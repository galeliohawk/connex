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investors. Connex is South Africa's answer to the super-app. In emerging markets, fragmentation is the enemy. We solve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fragmentation problem is real and measurable. Every user we talk to has the same pain: too many apps, too little data, and zero safety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super-app model is proven: WeChat in China, Grab in SE Asia, M-Pesa in East Africa. We're bringing it to SA with a local-first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go campus by campus. Once Connex is the default communication layer for a campus, the network effect kicks in and growth is self-sustaining.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free to acquire users fast. The marketplace commission kicks in as soon as the Education Hub launches in Phase 3. Each phase de-risks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working product. The super-app concept is validated globally. We are the first mover in South Africa with a local-first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effects are the only moat that matters at scale. We are engineering a flywheel: safety brings communities in, education monetizes them, commerce locks them in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founder is a strength, not a weakness, at pre-seed. It means no burn on co-founder salaries, lightning-fast decisions, and a founder with unbreakable skin in the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de-risks the product. Phase 2 de-risks distribution. Phase 3 validates monetization. Phase 4 builds the Series A story. Clean, linear, fundable.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R1.5M gets us to 10,000 users and first revenue. That is a Series A story. The ask is conservative, the milestones are clear, and the founder has already proven they can execute at a fraction of market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0D26A">
              <a:alpha val="12000"/>
            </a:srgbClr>
          </a:solidFill>
          <a:ln w="12700">
            <a:solidFill>
              <a:srgbClr val="00D26A">
                <a:alpha val="0"/>
              </a:srgbClr>
            </a:solidFill>
            <a:prstDash val="solid"/>
          </a:ln>
        </p:spPr>
      </p:sp>
      <p:sp>
        <p:nvSpPr>
          <p:cNvPr id="3" name="Shape 1"/>
          <p:cNvSpPr/>
          <p:nvPr/>
        </p:nvSpPr>
        <p:spPr>
          <a:xfrm>
            <a:off x="7132320" y="-640080"/>
            <a:ext cx="2926080" cy="2926080"/>
          </a:xfrm>
          <a:prstGeom prst="ellipse">
            <a:avLst/>
          </a:prstGeom>
          <a:solidFill>
            <a:srgbClr val="00D26A">
              <a:alpha val="20000"/>
            </a:srgbClr>
          </a:solidFill>
          <a:ln w="12700">
            <a:solidFill>
              <a:srgbClr val="00D26A">
                <a:alpha val="0"/>
              </a:srgbClr>
            </a:solidFill>
            <a:prstDash val="solid"/>
          </a:ln>
        </p:spPr>
      </p:sp>
      <p:sp>
        <p:nvSpPr>
          <p:cNvPr id="4" name="Shape 2"/>
          <p:cNvSpPr/>
          <p:nvPr/>
        </p:nvSpPr>
        <p:spPr>
          <a:xfrm>
            <a:off x="548640" y="640080"/>
            <a:ext cx="2194560" cy="347472"/>
          </a:xfrm>
          <a:prstGeom prst="roundRect">
            <a:avLst>
              <a:gd name="adj" fmla="val 21053"/>
            </a:avLst>
          </a:prstGeom>
          <a:solidFill>
            <a:srgbClr val="00D26A"/>
          </a:solidFill>
          <a:ln w="12700">
            <a:solidFill>
              <a:srgbClr val="00D26A"/>
            </a:solidFill>
            <a:prstDash val="solid"/>
          </a:ln>
        </p:spPr>
      </p:sp>
      <p:sp>
        <p:nvSpPr>
          <p:cNvPr id="5" name="Text 3"/>
          <p:cNvSpPr/>
          <p:nvPr/>
        </p:nvSpPr>
        <p:spPr>
          <a:xfrm>
            <a:off x="548640" y="621792"/>
            <a:ext cx="2194560" cy="365760"/>
          </a:xfrm>
          <a:prstGeom prst="rect">
            <a:avLst/>
          </a:prstGeom>
          <a:noFill/>
          <a:ln/>
        </p:spPr>
        <p:txBody>
          <a:bodyPr wrap="square" lIns="0" tIns="0" rIns="0" bIns="0" rtlCol="0" anchor="ctr"/>
          <a:lstStyle/>
          <a:p>
            <a:pPr algn="ctr" indent="0" marL="0">
              <a:buNone/>
            </a:pPr>
            <a:r>
              <a:rPr lang="en-US" sz="900" b="1" dirty="0">
                <a:solidFill>
                  <a:srgbClr val="0B1628"/>
                </a:solidFill>
              </a:rPr>
              <a:t>PRE-SEED RAISE</a:t>
            </a:r>
            <a:endParaRPr lang="en-US" sz="900" dirty="0"/>
          </a:p>
        </p:txBody>
      </p:sp>
      <p:sp>
        <p:nvSpPr>
          <p:cNvPr id="6" name="Text 4"/>
          <p:cNvSpPr/>
          <p:nvPr/>
        </p:nvSpPr>
        <p:spPr>
          <a:xfrm>
            <a:off x="548640" y="1188720"/>
            <a:ext cx="6400800" cy="1280160"/>
          </a:xfrm>
          <a:prstGeom prst="rect">
            <a:avLst/>
          </a:prstGeom>
          <a:noFill/>
          <a:ln/>
        </p:spPr>
        <p:txBody>
          <a:bodyPr wrap="square" lIns="0" tIns="0" rIns="0" bIns="0" rtlCol="0" anchor="ctr"/>
          <a:lstStyle/>
          <a:p>
            <a:pPr indent="0" marL="0">
              <a:buNone/>
            </a:pPr>
            <a:r>
              <a:rPr lang="en-US" sz="7200" b="1" spc="800" kern="0" dirty="0">
                <a:solidFill>
                  <a:srgbClr val="FFFFFF"/>
                </a:solidFill>
                <a:latin typeface="Arial" pitchFamily="34" charset="0"/>
                <a:ea typeface="Arial" pitchFamily="34" charset="-122"/>
                <a:cs typeface="Arial" pitchFamily="34" charset="-120"/>
              </a:rPr>
              <a:t>CONNEX</a:t>
            </a:r>
            <a:endParaRPr lang="en-US" sz="7200" dirty="0"/>
          </a:p>
        </p:txBody>
      </p:sp>
      <p:sp>
        <p:nvSpPr>
          <p:cNvPr id="7" name="Shape 5"/>
          <p:cNvSpPr/>
          <p:nvPr/>
        </p:nvSpPr>
        <p:spPr>
          <a:xfrm>
            <a:off x="548640" y="2331720"/>
            <a:ext cx="1691640" cy="64008"/>
          </a:xfrm>
          <a:prstGeom prst="rect">
            <a:avLst/>
          </a:prstGeom>
          <a:solidFill>
            <a:srgbClr val="00D26A"/>
          </a:solidFill>
          <a:ln w="12700">
            <a:solidFill>
              <a:srgbClr val="00D26A"/>
            </a:solidFill>
            <a:prstDash val="solid"/>
          </a:ln>
        </p:spPr>
      </p:sp>
      <p:sp>
        <p:nvSpPr>
          <p:cNvPr id="8" name="Text 6"/>
          <p:cNvSpPr/>
          <p:nvPr/>
        </p:nvSpPr>
        <p:spPr>
          <a:xfrm>
            <a:off x="548640" y="2606040"/>
            <a:ext cx="7132320" cy="640080"/>
          </a:xfrm>
          <a:prstGeom prst="rect">
            <a:avLst/>
          </a:prstGeom>
          <a:noFill/>
          <a:ln/>
        </p:spPr>
        <p:txBody>
          <a:bodyPr wrap="square" rtlCol="0" anchor="ctr"/>
          <a:lstStyle/>
          <a:p>
            <a:pPr indent="0" marL="0">
              <a:buNone/>
            </a:pPr>
            <a:r>
              <a:rPr lang="en-US" sz="1800" i="1" dirty="0">
                <a:solidFill>
                  <a:srgbClr val="E8EDF5"/>
                </a:solidFill>
                <a:latin typeface="Arial" pitchFamily="34" charset="0"/>
                <a:ea typeface="Arial" pitchFamily="34" charset="-122"/>
                <a:cs typeface="Arial" pitchFamily="34" charset="-120"/>
              </a:rPr>
              <a:t>South Africa's Super-App for Safety, Learning &amp; Community.</a:t>
            </a:r>
            <a:endParaRPr lang="en-US" sz="1800" dirty="0"/>
          </a:p>
        </p:txBody>
      </p:sp>
      <p:sp>
        <p:nvSpPr>
          <p:cNvPr id="9" name="Shape 7"/>
          <p:cNvSpPr/>
          <p:nvPr/>
        </p:nvSpPr>
        <p:spPr>
          <a:xfrm>
            <a:off x="548640" y="3657600"/>
            <a:ext cx="2468880" cy="1097280"/>
          </a:xfrm>
          <a:prstGeom prst="roundRect">
            <a:avLst>
              <a:gd name="adj" fmla="val 8333"/>
            </a:avLst>
          </a:prstGeom>
          <a:solidFill>
            <a:srgbClr val="1A2E4A"/>
          </a:solidFill>
          <a:ln w="12700">
            <a:solidFill>
              <a:srgbClr val="00D26A"/>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640080" y="3703320"/>
            <a:ext cx="2286000" cy="566928"/>
          </a:xfrm>
          <a:prstGeom prst="rect">
            <a:avLst/>
          </a:prstGeom>
          <a:noFill/>
          <a:ln/>
        </p:spPr>
        <p:txBody>
          <a:bodyPr wrap="square" rtlCol="0" anchor="ctr"/>
          <a:lstStyle/>
          <a:p>
            <a:pPr algn="ctr" indent="0" marL="0">
              <a:buNone/>
            </a:pPr>
            <a:r>
              <a:rPr lang="en-US" sz="2800" b="1" dirty="0">
                <a:solidFill>
                  <a:srgbClr val="00D26A"/>
                </a:solidFill>
                <a:latin typeface="Arial" pitchFamily="34" charset="0"/>
                <a:ea typeface="Arial" pitchFamily="34" charset="-122"/>
                <a:cs typeface="Arial" pitchFamily="34" charset="-120"/>
              </a:rPr>
              <a:t>39,000</a:t>
            </a:r>
            <a:endParaRPr lang="en-US" sz="2800" dirty="0"/>
          </a:p>
        </p:txBody>
      </p:sp>
      <p:sp>
        <p:nvSpPr>
          <p:cNvPr id="11" name="Text 9"/>
          <p:cNvSpPr/>
          <p:nvPr/>
        </p:nvSpPr>
        <p:spPr>
          <a:xfrm>
            <a:off x="640080" y="4251960"/>
            <a:ext cx="2286000" cy="411480"/>
          </a:xfrm>
          <a:prstGeom prst="rect">
            <a:avLst/>
          </a:prstGeom>
          <a:noFill/>
          <a:ln/>
        </p:spPr>
        <p:txBody>
          <a:bodyPr wrap="square" rtlCol="0" anchor="ctr"/>
          <a:lstStyle/>
          <a:p>
            <a:pPr algn="ctr" indent="0" marL="0">
              <a:buNone/>
            </a:pPr>
            <a:r>
              <a:rPr lang="en-US" sz="950" dirty="0">
                <a:solidFill>
                  <a:srgbClr val="8A9BBB"/>
                </a:solidFill>
                <a:latin typeface="Arial" pitchFamily="34" charset="0"/>
                <a:ea typeface="Arial" pitchFamily="34" charset="-122"/>
                <a:cs typeface="Arial" pitchFamily="34" charset="-120"/>
              </a:rPr>
              <a:t>Lines of Code (MVP Built)</a:t>
            </a:r>
            <a:endParaRPr lang="en-US" sz="950" dirty="0"/>
          </a:p>
        </p:txBody>
      </p:sp>
      <p:sp>
        <p:nvSpPr>
          <p:cNvPr id="12" name="Shape 10"/>
          <p:cNvSpPr/>
          <p:nvPr/>
        </p:nvSpPr>
        <p:spPr>
          <a:xfrm>
            <a:off x="3383280" y="3657600"/>
            <a:ext cx="2468880" cy="1097280"/>
          </a:xfrm>
          <a:prstGeom prst="roundRect">
            <a:avLst>
              <a:gd name="adj" fmla="val 8333"/>
            </a:avLst>
          </a:prstGeom>
          <a:solidFill>
            <a:srgbClr val="1A2E4A"/>
          </a:solidFill>
          <a:ln w="12700">
            <a:solidFill>
              <a:srgbClr val="00D26A"/>
            </a:solidFill>
            <a:prstDash val="solid"/>
          </a:ln>
          <a:effectLst>
            <a:outerShdw sx="100000" sy="100000" kx="0" ky="0" algn="bl" rotWithShape="0" blurRad="101600" dist="38100" dir="2700000">
              <a:srgbClr val="000000">
                <a:alpha val="18000"/>
              </a:srgbClr>
            </a:outerShdw>
          </a:effectLst>
        </p:spPr>
      </p:sp>
      <p:sp>
        <p:nvSpPr>
          <p:cNvPr id="13" name="Text 11"/>
          <p:cNvSpPr/>
          <p:nvPr/>
        </p:nvSpPr>
        <p:spPr>
          <a:xfrm>
            <a:off x="3474720" y="3703320"/>
            <a:ext cx="2286000" cy="566928"/>
          </a:xfrm>
          <a:prstGeom prst="rect">
            <a:avLst/>
          </a:prstGeom>
          <a:noFill/>
          <a:ln/>
        </p:spPr>
        <p:txBody>
          <a:bodyPr wrap="square" rtlCol="0" anchor="ctr"/>
          <a:lstStyle/>
          <a:p>
            <a:pPr algn="ctr" indent="0" marL="0">
              <a:buNone/>
            </a:pPr>
            <a:r>
              <a:rPr lang="en-US" sz="2800" b="1" dirty="0">
                <a:solidFill>
                  <a:srgbClr val="00D26A"/>
                </a:solidFill>
                <a:latin typeface="Arial" pitchFamily="34" charset="0"/>
                <a:ea typeface="Arial" pitchFamily="34" charset="-122"/>
                <a:cs typeface="Arial" pitchFamily="34" charset="-120"/>
              </a:rPr>
              <a:t>R1.5M</a:t>
            </a:r>
            <a:endParaRPr lang="en-US" sz="2800" dirty="0"/>
          </a:p>
        </p:txBody>
      </p:sp>
      <p:sp>
        <p:nvSpPr>
          <p:cNvPr id="14" name="Text 12"/>
          <p:cNvSpPr/>
          <p:nvPr/>
        </p:nvSpPr>
        <p:spPr>
          <a:xfrm>
            <a:off x="3474720" y="4251960"/>
            <a:ext cx="2286000" cy="411480"/>
          </a:xfrm>
          <a:prstGeom prst="rect">
            <a:avLst/>
          </a:prstGeom>
          <a:noFill/>
          <a:ln/>
        </p:spPr>
        <p:txBody>
          <a:bodyPr wrap="square" rtlCol="0" anchor="ctr"/>
          <a:lstStyle/>
          <a:p>
            <a:pPr algn="ctr" indent="0" marL="0">
              <a:buNone/>
            </a:pPr>
            <a:r>
              <a:rPr lang="en-US" sz="950" dirty="0">
                <a:solidFill>
                  <a:srgbClr val="8A9BBB"/>
                </a:solidFill>
                <a:latin typeface="Arial" pitchFamily="34" charset="0"/>
                <a:ea typeface="Arial" pitchFamily="34" charset="-122"/>
                <a:cs typeface="Arial" pitchFamily="34" charset="-120"/>
              </a:rPr>
              <a:t>Pre-Seed Ask</a:t>
            </a:r>
            <a:endParaRPr lang="en-US" sz="950" dirty="0"/>
          </a:p>
        </p:txBody>
      </p:sp>
      <p:sp>
        <p:nvSpPr>
          <p:cNvPr id="15" name="Shape 13"/>
          <p:cNvSpPr/>
          <p:nvPr/>
        </p:nvSpPr>
        <p:spPr>
          <a:xfrm>
            <a:off x="6217920" y="3657600"/>
            <a:ext cx="2468880" cy="1097280"/>
          </a:xfrm>
          <a:prstGeom prst="roundRect">
            <a:avLst>
              <a:gd name="adj" fmla="val 8333"/>
            </a:avLst>
          </a:prstGeom>
          <a:solidFill>
            <a:srgbClr val="1A2E4A"/>
          </a:solidFill>
          <a:ln w="12700">
            <a:solidFill>
              <a:srgbClr val="00D26A"/>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6309360" y="3703320"/>
            <a:ext cx="2286000" cy="566928"/>
          </a:xfrm>
          <a:prstGeom prst="rect">
            <a:avLst/>
          </a:prstGeom>
          <a:noFill/>
          <a:ln/>
        </p:spPr>
        <p:txBody>
          <a:bodyPr wrap="square" rtlCol="0" anchor="ctr"/>
          <a:lstStyle/>
          <a:p>
            <a:pPr algn="ctr" indent="0" marL="0">
              <a:buNone/>
            </a:pPr>
            <a:r>
              <a:rPr lang="en-US" sz="2800" b="1" dirty="0">
                <a:solidFill>
                  <a:srgbClr val="00D26A"/>
                </a:solidFill>
                <a:latin typeface="Arial" pitchFamily="34" charset="0"/>
                <a:ea typeface="Arial" pitchFamily="34" charset="-122"/>
                <a:cs typeface="Arial" pitchFamily="34" charset="-120"/>
              </a:rPr>
              <a:t>3</a:t>
            </a:r>
            <a:endParaRPr lang="en-US" sz="2800" dirty="0"/>
          </a:p>
        </p:txBody>
      </p:sp>
      <p:sp>
        <p:nvSpPr>
          <p:cNvPr id="17" name="Text 15"/>
          <p:cNvSpPr/>
          <p:nvPr/>
        </p:nvSpPr>
        <p:spPr>
          <a:xfrm>
            <a:off x="6309360" y="4251960"/>
            <a:ext cx="2286000" cy="411480"/>
          </a:xfrm>
          <a:prstGeom prst="rect">
            <a:avLst/>
          </a:prstGeom>
          <a:noFill/>
          <a:ln/>
        </p:spPr>
        <p:txBody>
          <a:bodyPr wrap="square" rtlCol="0" anchor="ctr"/>
          <a:lstStyle/>
          <a:p>
            <a:pPr algn="ctr" indent="0" marL="0">
              <a:buNone/>
            </a:pPr>
            <a:r>
              <a:rPr lang="en-US" sz="950" dirty="0">
                <a:solidFill>
                  <a:srgbClr val="8A9BBB"/>
                </a:solidFill>
                <a:latin typeface="Arial" pitchFamily="34" charset="0"/>
                <a:ea typeface="Arial" pitchFamily="34" charset="-122"/>
                <a:cs typeface="Arial" pitchFamily="34" charset="-120"/>
              </a:rPr>
              <a:t>Core Verticals</a:t>
            </a:r>
            <a:endParaRPr lang="en-US" sz="950" dirty="0"/>
          </a:p>
        </p:txBody>
      </p:sp>
      <p:sp>
        <p:nvSpPr>
          <p:cNvPr id="18" name="Text 16"/>
          <p:cNvSpPr/>
          <p:nvPr/>
        </p:nvSpPr>
        <p:spPr>
          <a:xfrm>
            <a:off x="548640" y="4846320"/>
            <a:ext cx="8229600" cy="201168"/>
          </a:xfrm>
          <a:prstGeom prst="rect">
            <a:avLst/>
          </a:prstGeom>
          <a:noFill/>
          <a:ln/>
        </p:spPr>
        <p:txBody>
          <a:bodyPr wrap="square" rtlCol="0" anchor="ctr"/>
          <a:lstStyle/>
          <a:p>
            <a:pPr algn="l" indent="0" marL="0">
              <a:buNone/>
            </a:pPr>
            <a:r>
              <a:rPr lang="en-US" sz="900" dirty="0">
                <a:solidFill>
                  <a:srgbClr val="8A9BBB"/>
                </a:solidFill>
              </a:rPr>
              <a:t>connex.app  |  South Africa  |  2024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628"/>
          </a:solidFill>
          <a:ln w="12700">
            <a:solidFill>
              <a:srgbClr val="0B1628"/>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indent="0" marL="0">
              <a:buNone/>
            </a:pPr>
            <a:r>
              <a:rPr lang="en-US" sz="1100" b="1" spc="400" kern="0" dirty="0">
                <a:solidFill>
                  <a:srgbClr val="00D26A"/>
                </a:solidFill>
                <a:latin typeface="Arial" pitchFamily="34" charset="0"/>
                <a:ea typeface="Arial" pitchFamily="34" charset="-122"/>
                <a:cs typeface="Arial" pitchFamily="34" charset="-120"/>
              </a:rPr>
              <a:t>THE PROBLEM</a:t>
            </a:r>
            <a:endParaRPr lang="en-US" sz="1100" dirty="0"/>
          </a:p>
        </p:txBody>
      </p:sp>
      <p:sp>
        <p:nvSpPr>
          <p:cNvPr id="4" name="Text 2"/>
          <p:cNvSpPr/>
          <p:nvPr/>
        </p:nvSpPr>
        <p:spPr>
          <a:xfrm>
            <a:off x="457200" y="1097280"/>
            <a:ext cx="8229600" cy="640080"/>
          </a:xfrm>
          <a:prstGeom prst="rect">
            <a:avLst/>
          </a:prstGeom>
          <a:noFill/>
          <a:ln/>
        </p:spPr>
        <p:txBody>
          <a:bodyPr wrap="square" rtlCol="0" anchor="ctr"/>
          <a:lstStyle/>
          <a:p>
            <a:pPr indent="0" marL="0">
              <a:buNone/>
            </a:pPr>
            <a:r>
              <a:rPr lang="en-US" sz="2600" b="1" dirty="0">
                <a:solidFill>
                  <a:srgbClr val="0B1628"/>
                </a:solidFill>
                <a:latin typeface="Arial" pitchFamily="34" charset="0"/>
                <a:ea typeface="Arial" pitchFamily="34" charset="-122"/>
                <a:cs typeface="Arial" pitchFamily="34" charset="-120"/>
              </a:rPr>
              <a:t>South African Users Are Drowning in Fragmentation</a:t>
            </a:r>
            <a:endParaRPr lang="en-US" sz="2600" dirty="0"/>
          </a:p>
        </p:txBody>
      </p:sp>
      <p:sp>
        <p:nvSpPr>
          <p:cNvPr id="5" name="Shape 3"/>
          <p:cNvSpPr/>
          <p:nvPr/>
        </p:nvSpPr>
        <p:spPr>
          <a:xfrm>
            <a:off x="365760" y="1920240"/>
            <a:ext cx="397764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530352" y="2212848"/>
            <a:ext cx="411480" cy="411480"/>
          </a:xfrm>
          <a:prstGeom prst="rect">
            <a:avLst/>
          </a:prstGeom>
        </p:spPr>
      </p:pic>
      <p:sp>
        <p:nvSpPr>
          <p:cNvPr id="7" name="Text 4"/>
          <p:cNvSpPr/>
          <p:nvPr/>
        </p:nvSpPr>
        <p:spPr>
          <a:xfrm>
            <a:off x="1024128" y="2011680"/>
            <a:ext cx="3200400" cy="347472"/>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App Overload</a:t>
            </a:r>
            <a:endParaRPr lang="en-US" sz="1300" dirty="0"/>
          </a:p>
        </p:txBody>
      </p:sp>
      <p:sp>
        <p:nvSpPr>
          <p:cNvPr id="8" name="Text 5"/>
          <p:cNvSpPr/>
          <p:nvPr/>
        </p:nvSpPr>
        <p:spPr>
          <a:xfrm>
            <a:off x="1024128" y="2322576"/>
            <a:ext cx="3200400" cy="731520"/>
          </a:xfrm>
          <a:prstGeom prst="rect">
            <a:avLst/>
          </a:prstGeom>
          <a:noFill/>
          <a:ln/>
        </p:spPr>
        <p:txBody>
          <a:bodyPr wrap="square" rtlCol="0" anchor="ctr"/>
          <a:lstStyle/>
          <a:p>
            <a:pPr indent="0" marL="0">
              <a:buNone/>
            </a:pPr>
            <a:r>
              <a:rPr lang="en-US" sz="1050" dirty="0">
                <a:solidFill>
                  <a:srgbClr val="3A4A60"/>
                </a:solidFill>
                <a:latin typeface="Arial" pitchFamily="34" charset="0"/>
                <a:ea typeface="Arial" pitchFamily="34" charset="-122"/>
                <a:cs typeface="Arial" pitchFamily="34" charset="-120"/>
              </a:rPr>
              <a:t>Users juggle 5–8 separate apps for chat, safety, learning &amp; payments — consuming precious data and storage.</a:t>
            </a:r>
            <a:endParaRPr lang="en-US" sz="1050" dirty="0"/>
          </a:p>
        </p:txBody>
      </p:sp>
      <p:sp>
        <p:nvSpPr>
          <p:cNvPr id="9" name="Shape 6"/>
          <p:cNvSpPr/>
          <p:nvPr/>
        </p:nvSpPr>
        <p:spPr>
          <a:xfrm>
            <a:off x="4617720" y="1920240"/>
            <a:ext cx="397764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pic>
        <p:nvPicPr>
          <p:cNvPr id="10" name="Image 1" descr="preencoded.png">    </p:cNvPr>
          <p:cNvPicPr>
            <a:picLocks noChangeAspect="1"/>
          </p:cNvPicPr>
          <p:nvPr/>
        </p:nvPicPr>
        <p:blipFill>
          <a:blip r:embed="rId2"/>
          <a:stretch>
            <a:fillRect/>
          </a:stretch>
        </p:blipFill>
        <p:spPr>
          <a:xfrm>
            <a:off x="4782312" y="2212848"/>
            <a:ext cx="411480" cy="411480"/>
          </a:xfrm>
          <a:prstGeom prst="rect">
            <a:avLst/>
          </a:prstGeom>
        </p:spPr>
      </p:pic>
      <p:sp>
        <p:nvSpPr>
          <p:cNvPr id="11" name="Text 7"/>
          <p:cNvSpPr/>
          <p:nvPr/>
        </p:nvSpPr>
        <p:spPr>
          <a:xfrm>
            <a:off x="5276088" y="2011680"/>
            <a:ext cx="3200400" cy="347472"/>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Zero Safety Net</a:t>
            </a:r>
            <a:endParaRPr lang="en-US" sz="1300" dirty="0"/>
          </a:p>
        </p:txBody>
      </p:sp>
      <p:sp>
        <p:nvSpPr>
          <p:cNvPr id="12" name="Text 8"/>
          <p:cNvSpPr/>
          <p:nvPr/>
        </p:nvSpPr>
        <p:spPr>
          <a:xfrm>
            <a:off x="5276088" y="2322576"/>
            <a:ext cx="3200400" cy="731520"/>
          </a:xfrm>
          <a:prstGeom prst="rect">
            <a:avLst/>
          </a:prstGeom>
          <a:noFill/>
          <a:ln/>
        </p:spPr>
        <p:txBody>
          <a:bodyPr wrap="square" rtlCol="0" anchor="ctr"/>
          <a:lstStyle/>
          <a:p>
            <a:pPr indent="0" marL="0">
              <a:buNone/>
            </a:pPr>
            <a:r>
              <a:rPr lang="en-US" sz="1050" dirty="0">
                <a:solidFill>
                  <a:srgbClr val="3A4A60"/>
                </a:solidFill>
                <a:latin typeface="Arial" pitchFamily="34" charset="0"/>
                <a:ea typeface="Arial" pitchFamily="34" charset="-122"/>
                <a:cs typeface="Arial" pitchFamily="34" charset="-120"/>
              </a:rPr>
              <a:t>South Africa's crime rate demands instant SOS tools. No existing platform serves this critical, daily need.</a:t>
            </a:r>
            <a:endParaRPr lang="en-US" sz="1050" dirty="0"/>
          </a:p>
        </p:txBody>
      </p:sp>
      <p:sp>
        <p:nvSpPr>
          <p:cNvPr id="13" name="Shape 9"/>
          <p:cNvSpPr/>
          <p:nvPr/>
        </p:nvSpPr>
        <p:spPr>
          <a:xfrm>
            <a:off x="365760" y="3337560"/>
            <a:ext cx="397764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pic>
        <p:nvPicPr>
          <p:cNvPr id="14" name="Image 2" descr="preencoded.png">    </p:cNvPr>
          <p:cNvPicPr>
            <a:picLocks noChangeAspect="1"/>
          </p:cNvPicPr>
          <p:nvPr/>
        </p:nvPicPr>
        <p:blipFill>
          <a:blip r:embed="rId3"/>
          <a:stretch>
            <a:fillRect/>
          </a:stretch>
        </p:blipFill>
        <p:spPr>
          <a:xfrm>
            <a:off x="530352" y="3630168"/>
            <a:ext cx="411480" cy="411480"/>
          </a:xfrm>
          <a:prstGeom prst="rect">
            <a:avLst/>
          </a:prstGeom>
        </p:spPr>
      </p:pic>
      <p:sp>
        <p:nvSpPr>
          <p:cNvPr id="15" name="Text 10"/>
          <p:cNvSpPr/>
          <p:nvPr/>
        </p:nvSpPr>
        <p:spPr>
          <a:xfrm>
            <a:off x="1024128" y="3429000"/>
            <a:ext cx="3200400" cy="347472"/>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Education Gap</a:t>
            </a:r>
            <a:endParaRPr lang="en-US" sz="1300" dirty="0"/>
          </a:p>
        </p:txBody>
      </p:sp>
      <p:sp>
        <p:nvSpPr>
          <p:cNvPr id="16" name="Text 11"/>
          <p:cNvSpPr/>
          <p:nvPr/>
        </p:nvSpPr>
        <p:spPr>
          <a:xfrm>
            <a:off x="1024128" y="3739896"/>
            <a:ext cx="3200400" cy="731520"/>
          </a:xfrm>
          <a:prstGeom prst="rect">
            <a:avLst/>
          </a:prstGeom>
          <a:noFill/>
          <a:ln/>
        </p:spPr>
        <p:txBody>
          <a:bodyPr wrap="square" rtlCol="0" anchor="ctr"/>
          <a:lstStyle/>
          <a:p>
            <a:pPr indent="0" marL="0">
              <a:buNone/>
            </a:pPr>
            <a:r>
              <a:rPr lang="en-US" sz="1050" dirty="0">
                <a:solidFill>
                  <a:srgbClr val="3A4A60"/>
                </a:solidFill>
                <a:latin typeface="Arial" pitchFamily="34" charset="0"/>
                <a:ea typeface="Arial" pitchFamily="34" charset="-122"/>
                <a:cs typeface="Arial" pitchFamily="34" charset="-120"/>
              </a:rPr>
              <a:t>Students can't find affordable, centralized access to tutors and study notes. Educational content is scattered.</a:t>
            </a:r>
            <a:endParaRPr lang="en-US" sz="1050" dirty="0"/>
          </a:p>
        </p:txBody>
      </p:sp>
      <p:sp>
        <p:nvSpPr>
          <p:cNvPr id="17" name="Shape 12"/>
          <p:cNvSpPr/>
          <p:nvPr/>
        </p:nvSpPr>
        <p:spPr>
          <a:xfrm>
            <a:off x="4617720" y="3337560"/>
            <a:ext cx="3977640" cy="1234440"/>
          </a:xfrm>
          <a:prstGeom prst="roundRect">
            <a:avLst>
              <a:gd name="adj" fmla="val 8889"/>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pic>
        <p:nvPicPr>
          <p:cNvPr id="18" name="Image 3" descr="preencoded.png">    </p:cNvPr>
          <p:cNvPicPr>
            <a:picLocks noChangeAspect="1"/>
          </p:cNvPicPr>
          <p:nvPr/>
        </p:nvPicPr>
        <p:blipFill>
          <a:blip r:embed="rId4"/>
          <a:stretch>
            <a:fillRect/>
          </a:stretch>
        </p:blipFill>
        <p:spPr>
          <a:xfrm>
            <a:off x="4782312" y="3630168"/>
            <a:ext cx="411480" cy="411480"/>
          </a:xfrm>
          <a:prstGeom prst="rect">
            <a:avLst/>
          </a:prstGeom>
        </p:spPr>
      </p:pic>
      <p:sp>
        <p:nvSpPr>
          <p:cNvPr id="19" name="Text 13"/>
          <p:cNvSpPr/>
          <p:nvPr/>
        </p:nvSpPr>
        <p:spPr>
          <a:xfrm>
            <a:off x="5276088" y="3429000"/>
            <a:ext cx="3200400" cy="347472"/>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Data Poverty</a:t>
            </a:r>
            <a:endParaRPr lang="en-US" sz="1300" dirty="0"/>
          </a:p>
        </p:txBody>
      </p:sp>
      <p:sp>
        <p:nvSpPr>
          <p:cNvPr id="20" name="Text 14"/>
          <p:cNvSpPr/>
          <p:nvPr/>
        </p:nvSpPr>
        <p:spPr>
          <a:xfrm>
            <a:off x="5276088" y="3739896"/>
            <a:ext cx="3200400" cy="731520"/>
          </a:xfrm>
          <a:prstGeom prst="rect">
            <a:avLst/>
          </a:prstGeom>
          <a:noFill/>
          <a:ln/>
        </p:spPr>
        <p:txBody>
          <a:bodyPr wrap="square" rtlCol="0" anchor="ctr"/>
          <a:lstStyle/>
          <a:p>
            <a:pPr indent="0" marL="0">
              <a:buNone/>
            </a:pPr>
            <a:r>
              <a:rPr lang="en-US" sz="1050" dirty="0">
                <a:solidFill>
                  <a:srgbClr val="3A4A60"/>
                </a:solidFill>
                <a:latin typeface="Arial" pitchFamily="34" charset="0"/>
                <a:ea typeface="Arial" pitchFamily="34" charset="-122"/>
                <a:cs typeface="Arial" pitchFamily="34" charset="-120"/>
              </a:rPr>
              <a:t>Managing separate apps burns mobile data and phone storage — a real cost for data-conscious, mobile-first users.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731520" y="3200400"/>
            <a:ext cx="3657600" cy="3657600"/>
          </a:xfrm>
          <a:prstGeom prst="ellipse">
            <a:avLst/>
          </a:prstGeom>
          <a:solidFill>
            <a:srgbClr val="00D26A">
              <a:alpha val="8000"/>
            </a:srgbClr>
          </a:solidFill>
          <a:ln w="12700">
            <a:solidFill>
              <a:srgbClr val="00D26A">
                <a:alpha val="0"/>
              </a:srgbClr>
            </a:solidFill>
            <a:prstDash val="solid"/>
          </a:ln>
        </p:spPr>
      </p:sp>
      <p:sp>
        <p:nvSpPr>
          <p:cNvPr id="3" name="Text 1"/>
          <p:cNvSpPr/>
          <p:nvPr/>
        </p:nvSpPr>
        <p:spPr>
          <a:xfrm>
            <a:off x="548640" y="274320"/>
            <a:ext cx="8229600" cy="347472"/>
          </a:xfrm>
          <a:prstGeom prst="rect">
            <a:avLst/>
          </a:prstGeom>
          <a:noFill/>
          <a:ln/>
        </p:spPr>
        <p:txBody>
          <a:bodyPr wrap="square" rtlCol="0" anchor="ctr"/>
          <a:lstStyle/>
          <a:p>
            <a:pPr indent="0" marL="0">
              <a:buNone/>
            </a:pPr>
            <a:r>
              <a:rPr lang="en-US" sz="1000" b="1" spc="400" kern="0" dirty="0">
                <a:solidFill>
                  <a:srgbClr val="00D26A"/>
                </a:solidFill>
                <a:latin typeface="Arial" pitchFamily="34" charset="0"/>
                <a:ea typeface="Arial" pitchFamily="34" charset="-122"/>
                <a:cs typeface="Arial" pitchFamily="34" charset="-120"/>
              </a:rPr>
              <a:t>THE SOLUTION</a:t>
            </a:r>
            <a:endParaRPr lang="en-US" sz="1000" dirty="0"/>
          </a:p>
        </p:txBody>
      </p:sp>
      <p:sp>
        <p:nvSpPr>
          <p:cNvPr id="4" name="Text 2"/>
          <p:cNvSpPr/>
          <p:nvPr/>
        </p:nvSpPr>
        <p:spPr>
          <a:xfrm>
            <a:off x="548640" y="685800"/>
            <a:ext cx="7315200" cy="68580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One App to Rule Them All.</a:t>
            </a:r>
            <a:endParaRPr lang="en-US" sz="3200" dirty="0"/>
          </a:p>
        </p:txBody>
      </p:sp>
      <p:sp>
        <p:nvSpPr>
          <p:cNvPr id="5" name="Text 3"/>
          <p:cNvSpPr/>
          <p:nvPr/>
        </p:nvSpPr>
        <p:spPr>
          <a:xfrm>
            <a:off x="548640" y="1371600"/>
            <a:ext cx="6400800" cy="502920"/>
          </a:xfrm>
          <a:prstGeom prst="rect">
            <a:avLst/>
          </a:prstGeom>
          <a:noFill/>
          <a:ln/>
        </p:spPr>
        <p:txBody>
          <a:bodyPr wrap="square" rtlCol="0" anchor="ctr"/>
          <a:lstStyle/>
          <a:p>
            <a:pPr indent="0" marL="0">
              <a:buNone/>
            </a:pPr>
            <a:r>
              <a:rPr lang="en-US" sz="1350" i="1" dirty="0">
                <a:solidFill>
                  <a:srgbClr val="E8EDF5"/>
                </a:solidFill>
                <a:latin typeface="Arial" pitchFamily="34" charset="0"/>
                <a:ea typeface="Arial" pitchFamily="34" charset="-122"/>
                <a:cs typeface="Arial" pitchFamily="34" charset="-120"/>
              </a:rPr>
              <a:t>Connex integrates South Africa's most critical digital needs into a single, lightweight super-app.</a:t>
            </a:r>
            <a:endParaRPr lang="en-US" sz="1350" dirty="0"/>
          </a:p>
        </p:txBody>
      </p:sp>
      <p:sp>
        <p:nvSpPr>
          <p:cNvPr id="6" name="Shape 4"/>
          <p:cNvSpPr/>
          <p:nvPr/>
        </p:nvSpPr>
        <p:spPr>
          <a:xfrm>
            <a:off x="548640" y="2057400"/>
            <a:ext cx="8046720" cy="640080"/>
          </a:xfrm>
          <a:prstGeom prst="roundRect">
            <a:avLst>
              <a:gd name="adj" fmla="val 14286"/>
            </a:avLst>
          </a:prstGeom>
          <a:solidFill>
            <a:srgbClr val="1A2E4A"/>
          </a:solidFill>
          <a:ln w="12700">
            <a:solidFill>
              <a:srgbClr val="243556"/>
            </a:solidFill>
            <a:prstDash val="solid"/>
          </a:ln>
        </p:spPr>
      </p:sp>
      <p:pic>
        <p:nvPicPr>
          <p:cNvPr id="7" name="Image 0" descr="preencoded.png">    </p:cNvPr>
          <p:cNvPicPr>
            <a:picLocks noChangeAspect="1"/>
          </p:cNvPicPr>
          <p:nvPr/>
        </p:nvPicPr>
        <p:blipFill>
          <a:blip r:embed="rId1"/>
          <a:stretch>
            <a:fillRect/>
          </a:stretch>
        </p:blipFill>
        <p:spPr>
          <a:xfrm>
            <a:off x="749808" y="2176272"/>
            <a:ext cx="347472" cy="347472"/>
          </a:xfrm>
          <a:prstGeom prst="rect">
            <a:avLst/>
          </a:prstGeom>
        </p:spPr>
      </p:pic>
      <p:sp>
        <p:nvSpPr>
          <p:cNvPr id="8" name="Text 5"/>
          <p:cNvSpPr/>
          <p:nvPr/>
        </p:nvSpPr>
        <p:spPr>
          <a:xfrm>
            <a:off x="1234440" y="2130552"/>
            <a:ext cx="237744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Real-Time Chat &amp; Communities</a:t>
            </a:r>
            <a:endParaRPr lang="en-US" sz="1150" dirty="0"/>
          </a:p>
        </p:txBody>
      </p:sp>
      <p:sp>
        <p:nvSpPr>
          <p:cNvPr id="9" name="Text 6"/>
          <p:cNvSpPr/>
          <p:nvPr/>
        </p:nvSpPr>
        <p:spPr>
          <a:xfrm>
            <a:off x="3703320" y="2148840"/>
            <a:ext cx="4663440" cy="438912"/>
          </a:xfrm>
          <a:prstGeom prst="rect">
            <a:avLst/>
          </a:prstGeom>
          <a:noFill/>
          <a:ln/>
        </p:spPr>
        <p:txBody>
          <a:bodyPr wrap="square" rtlCol="0" anchor="ctr"/>
          <a:lstStyle/>
          <a:p>
            <a:pPr indent="0" marL="0">
              <a:buNone/>
            </a:pPr>
            <a:r>
              <a:rPr lang="en-US" sz="1050" dirty="0">
                <a:solidFill>
                  <a:srgbClr val="8A9BBB"/>
                </a:solidFill>
                <a:latin typeface="Arial" pitchFamily="34" charset="0"/>
                <a:ea typeface="Arial" pitchFamily="34" charset="-122"/>
                <a:cs typeface="Arial" pitchFamily="34" charset="-120"/>
              </a:rPr>
              <a:t>Localized, group-first communication for neighborhoods, campuses, and families.</a:t>
            </a:r>
            <a:endParaRPr lang="en-US" sz="1050" dirty="0"/>
          </a:p>
        </p:txBody>
      </p:sp>
      <p:sp>
        <p:nvSpPr>
          <p:cNvPr id="10" name="Shape 7"/>
          <p:cNvSpPr/>
          <p:nvPr/>
        </p:nvSpPr>
        <p:spPr>
          <a:xfrm>
            <a:off x="3566160" y="2194560"/>
            <a:ext cx="27432" cy="365760"/>
          </a:xfrm>
          <a:prstGeom prst="rect">
            <a:avLst/>
          </a:prstGeom>
          <a:solidFill>
            <a:srgbClr val="00D26A">
              <a:alpha val="60000"/>
            </a:srgbClr>
          </a:solidFill>
          <a:ln w="12700">
            <a:solidFill>
              <a:srgbClr val="00D26A"/>
            </a:solidFill>
            <a:prstDash val="solid"/>
          </a:ln>
        </p:spPr>
      </p:sp>
      <p:sp>
        <p:nvSpPr>
          <p:cNvPr id="11" name="Shape 8"/>
          <p:cNvSpPr/>
          <p:nvPr/>
        </p:nvSpPr>
        <p:spPr>
          <a:xfrm>
            <a:off x="548640" y="2788920"/>
            <a:ext cx="8046720" cy="640080"/>
          </a:xfrm>
          <a:prstGeom prst="roundRect">
            <a:avLst>
              <a:gd name="adj" fmla="val 14286"/>
            </a:avLst>
          </a:prstGeom>
          <a:solidFill>
            <a:srgbClr val="1A2E4A"/>
          </a:solidFill>
          <a:ln w="12700">
            <a:solidFill>
              <a:srgbClr val="243556"/>
            </a:solidFill>
            <a:prstDash val="solid"/>
          </a:ln>
        </p:spPr>
      </p:sp>
      <p:pic>
        <p:nvPicPr>
          <p:cNvPr id="12" name="Image 1" descr="preencoded.png">    </p:cNvPr>
          <p:cNvPicPr>
            <a:picLocks noChangeAspect="1"/>
          </p:cNvPicPr>
          <p:nvPr/>
        </p:nvPicPr>
        <p:blipFill>
          <a:blip r:embed="rId2"/>
          <a:stretch>
            <a:fillRect/>
          </a:stretch>
        </p:blipFill>
        <p:spPr>
          <a:xfrm>
            <a:off x="749808" y="2907792"/>
            <a:ext cx="347472" cy="347472"/>
          </a:xfrm>
          <a:prstGeom prst="rect">
            <a:avLst/>
          </a:prstGeom>
        </p:spPr>
      </p:pic>
      <p:sp>
        <p:nvSpPr>
          <p:cNvPr id="13" name="Text 9"/>
          <p:cNvSpPr/>
          <p:nvPr/>
        </p:nvSpPr>
        <p:spPr>
          <a:xfrm>
            <a:off x="1234440" y="2862072"/>
            <a:ext cx="237744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Education Hub</a:t>
            </a:r>
            <a:endParaRPr lang="en-US" sz="1150" dirty="0"/>
          </a:p>
        </p:txBody>
      </p:sp>
      <p:sp>
        <p:nvSpPr>
          <p:cNvPr id="14" name="Text 10"/>
          <p:cNvSpPr/>
          <p:nvPr/>
        </p:nvSpPr>
        <p:spPr>
          <a:xfrm>
            <a:off x="3703320" y="2880360"/>
            <a:ext cx="4663440" cy="438912"/>
          </a:xfrm>
          <a:prstGeom prst="rect">
            <a:avLst/>
          </a:prstGeom>
          <a:noFill/>
          <a:ln/>
        </p:spPr>
        <p:txBody>
          <a:bodyPr wrap="square" rtlCol="0" anchor="ctr"/>
          <a:lstStyle/>
          <a:p>
            <a:pPr indent="0" marL="0">
              <a:buNone/>
            </a:pPr>
            <a:r>
              <a:rPr lang="en-US" sz="1050" dirty="0">
                <a:solidFill>
                  <a:srgbClr val="8A9BBB"/>
                </a:solidFill>
                <a:latin typeface="Arial" pitchFamily="34" charset="0"/>
                <a:ea typeface="Arial" pitchFamily="34" charset="-122"/>
                <a:cs typeface="Arial" pitchFamily="34" charset="-120"/>
              </a:rPr>
              <a:t>Peer-to-peer marketplace connecting students with affordable tutors and curated notes.</a:t>
            </a:r>
            <a:endParaRPr lang="en-US" sz="1050" dirty="0"/>
          </a:p>
        </p:txBody>
      </p:sp>
      <p:sp>
        <p:nvSpPr>
          <p:cNvPr id="15" name="Shape 11"/>
          <p:cNvSpPr/>
          <p:nvPr/>
        </p:nvSpPr>
        <p:spPr>
          <a:xfrm>
            <a:off x="3566160" y="2926080"/>
            <a:ext cx="27432" cy="365760"/>
          </a:xfrm>
          <a:prstGeom prst="rect">
            <a:avLst/>
          </a:prstGeom>
          <a:solidFill>
            <a:srgbClr val="00D26A">
              <a:alpha val="60000"/>
            </a:srgbClr>
          </a:solidFill>
          <a:ln w="12700">
            <a:solidFill>
              <a:srgbClr val="00D26A"/>
            </a:solidFill>
            <a:prstDash val="solid"/>
          </a:ln>
        </p:spPr>
      </p:sp>
      <p:sp>
        <p:nvSpPr>
          <p:cNvPr id="16" name="Shape 12"/>
          <p:cNvSpPr/>
          <p:nvPr/>
        </p:nvSpPr>
        <p:spPr>
          <a:xfrm>
            <a:off x="548640" y="3520440"/>
            <a:ext cx="8046720" cy="640080"/>
          </a:xfrm>
          <a:prstGeom prst="roundRect">
            <a:avLst>
              <a:gd name="adj" fmla="val 14286"/>
            </a:avLst>
          </a:prstGeom>
          <a:solidFill>
            <a:srgbClr val="1A2E4A"/>
          </a:solidFill>
          <a:ln w="12700">
            <a:solidFill>
              <a:srgbClr val="243556"/>
            </a:solidFill>
            <a:prstDash val="solid"/>
          </a:ln>
        </p:spPr>
      </p:sp>
      <p:pic>
        <p:nvPicPr>
          <p:cNvPr id="17" name="Image 2" descr="preencoded.png">    </p:cNvPr>
          <p:cNvPicPr>
            <a:picLocks noChangeAspect="1"/>
          </p:cNvPicPr>
          <p:nvPr/>
        </p:nvPicPr>
        <p:blipFill>
          <a:blip r:embed="rId3"/>
          <a:stretch>
            <a:fillRect/>
          </a:stretch>
        </p:blipFill>
        <p:spPr>
          <a:xfrm>
            <a:off x="749808" y="3639312"/>
            <a:ext cx="347472" cy="347472"/>
          </a:xfrm>
          <a:prstGeom prst="rect">
            <a:avLst/>
          </a:prstGeom>
        </p:spPr>
      </p:pic>
      <p:sp>
        <p:nvSpPr>
          <p:cNvPr id="18" name="Text 13"/>
          <p:cNvSpPr/>
          <p:nvPr/>
        </p:nvSpPr>
        <p:spPr>
          <a:xfrm>
            <a:off x="1234440" y="3593592"/>
            <a:ext cx="237744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Instant SOS Alerts</a:t>
            </a:r>
            <a:endParaRPr lang="en-US" sz="1150" dirty="0"/>
          </a:p>
        </p:txBody>
      </p:sp>
      <p:sp>
        <p:nvSpPr>
          <p:cNvPr id="19" name="Text 14"/>
          <p:cNvSpPr/>
          <p:nvPr/>
        </p:nvSpPr>
        <p:spPr>
          <a:xfrm>
            <a:off x="3703320" y="3611880"/>
            <a:ext cx="4663440" cy="438912"/>
          </a:xfrm>
          <a:prstGeom prst="rect">
            <a:avLst/>
          </a:prstGeom>
          <a:noFill/>
          <a:ln/>
        </p:spPr>
        <p:txBody>
          <a:bodyPr wrap="square" rtlCol="0" anchor="ctr"/>
          <a:lstStyle/>
          <a:p>
            <a:pPr indent="0" marL="0">
              <a:buNone/>
            </a:pPr>
            <a:r>
              <a:rPr lang="en-US" sz="1050" dirty="0">
                <a:solidFill>
                  <a:srgbClr val="8A9BBB"/>
                </a:solidFill>
                <a:latin typeface="Arial" pitchFamily="34" charset="0"/>
                <a:ea typeface="Arial" pitchFamily="34" charset="-122"/>
                <a:cs typeface="Arial" pitchFamily="34" charset="-120"/>
              </a:rPr>
              <a:t>One tap notifies your trusted circle with real-time location — a non-negotiable for SA.</a:t>
            </a:r>
            <a:endParaRPr lang="en-US" sz="1050" dirty="0"/>
          </a:p>
        </p:txBody>
      </p:sp>
      <p:sp>
        <p:nvSpPr>
          <p:cNvPr id="20" name="Shape 15"/>
          <p:cNvSpPr/>
          <p:nvPr/>
        </p:nvSpPr>
        <p:spPr>
          <a:xfrm>
            <a:off x="3566160" y="3657600"/>
            <a:ext cx="27432" cy="365760"/>
          </a:xfrm>
          <a:prstGeom prst="rect">
            <a:avLst/>
          </a:prstGeom>
          <a:solidFill>
            <a:srgbClr val="00D26A">
              <a:alpha val="60000"/>
            </a:srgbClr>
          </a:solidFill>
          <a:ln w="12700">
            <a:solidFill>
              <a:srgbClr val="00D26A"/>
            </a:solidFill>
            <a:prstDash val="solid"/>
          </a:ln>
        </p:spPr>
      </p:sp>
      <p:sp>
        <p:nvSpPr>
          <p:cNvPr id="21" name="Shape 16"/>
          <p:cNvSpPr/>
          <p:nvPr/>
        </p:nvSpPr>
        <p:spPr>
          <a:xfrm>
            <a:off x="548640" y="4251960"/>
            <a:ext cx="8046720" cy="640080"/>
          </a:xfrm>
          <a:prstGeom prst="roundRect">
            <a:avLst>
              <a:gd name="adj" fmla="val 14286"/>
            </a:avLst>
          </a:prstGeom>
          <a:solidFill>
            <a:srgbClr val="1A2E4A"/>
          </a:solidFill>
          <a:ln w="12700">
            <a:solidFill>
              <a:srgbClr val="243556"/>
            </a:solidFill>
            <a:prstDash val="solid"/>
          </a:ln>
        </p:spPr>
      </p:sp>
      <p:pic>
        <p:nvPicPr>
          <p:cNvPr id="22" name="Image 3" descr="preencoded.png">    </p:cNvPr>
          <p:cNvPicPr>
            <a:picLocks noChangeAspect="1"/>
          </p:cNvPicPr>
          <p:nvPr/>
        </p:nvPicPr>
        <p:blipFill>
          <a:blip r:embed="rId4"/>
          <a:stretch>
            <a:fillRect/>
          </a:stretch>
        </p:blipFill>
        <p:spPr>
          <a:xfrm>
            <a:off x="749808" y="4370832"/>
            <a:ext cx="347472" cy="347472"/>
          </a:xfrm>
          <a:prstGeom prst="rect">
            <a:avLst/>
          </a:prstGeom>
        </p:spPr>
      </p:pic>
      <p:sp>
        <p:nvSpPr>
          <p:cNvPr id="23" name="Text 17"/>
          <p:cNvSpPr/>
          <p:nvPr/>
        </p:nvSpPr>
        <p:spPr>
          <a:xfrm>
            <a:off x="1234440" y="4325112"/>
            <a:ext cx="2377440" cy="292608"/>
          </a:xfrm>
          <a:prstGeom prst="rect">
            <a:avLst/>
          </a:prstGeom>
          <a:noFill/>
          <a:ln/>
        </p:spPr>
        <p:txBody>
          <a:bodyPr wrap="square" rtlCol="0" anchor="ctr"/>
          <a:lstStyle/>
          <a:p>
            <a:pPr indent="0" marL="0">
              <a:buNone/>
            </a:pPr>
            <a:r>
              <a:rPr lang="en-US" sz="1150" b="1" dirty="0">
                <a:solidFill>
                  <a:srgbClr val="FFFFFF"/>
                </a:solidFill>
                <a:latin typeface="Arial" pitchFamily="34" charset="0"/>
                <a:ea typeface="Arial" pitchFamily="34" charset="-122"/>
                <a:cs typeface="Arial" pitchFamily="34" charset="-120"/>
              </a:rPr>
              <a:t>Commerce &amp; Logistics</a:t>
            </a:r>
            <a:endParaRPr lang="en-US" sz="1150" dirty="0"/>
          </a:p>
        </p:txBody>
      </p:sp>
      <p:sp>
        <p:nvSpPr>
          <p:cNvPr id="24" name="Text 18"/>
          <p:cNvSpPr/>
          <p:nvPr/>
        </p:nvSpPr>
        <p:spPr>
          <a:xfrm>
            <a:off x="3703320" y="4343400"/>
            <a:ext cx="4663440" cy="438912"/>
          </a:xfrm>
          <a:prstGeom prst="rect">
            <a:avLst/>
          </a:prstGeom>
          <a:noFill/>
          <a:ln/>
        </p:spPr>
        <p:txBody>
          <a:bodyPr wrap="square" rtlCol="0" anchor="ctr"/>
          <a:lstStyle/>
          <a:p>
            <a:pPr indent="0" marL="0">
              <a:buNone/>
            </a:pPr>
            <a:r>
              <a:rPr lang="en-US" sz="1050" dirty="0">
                <a:solidFill>
                  <a:srgbClr val="8A9BBB"/>
                </a:solidFill>
                <a:latin typeface="Arial" pitchFamily="34" charset="0"/>
                <a:ea typeface="Arial" pitchFamily="34" charset="-122"/>
                <a:cs typeface="Arial" pitchFamily="34" charset="-120"/>
              </a:rPr>
              <a:t>(Roadmap) Digital payments and hyperlocal delivery — locking in long-term retention.</a:t>
            </a:r>
            <a:endParaRPr lang="en-US" sz="1050" dirty="0"/>
          </a:p>
        </p:txBody>
      </p:sp>
      <p:sp>
        <p:nvSpPr>
          <p:cNvPr id="25" name="Shape 19"/>
          <p:cNvSpPr/>
          <p:nvPr/>
        </p:nvSpPr>
        <p:spPr>
          <a:xfrm>
            <a:off x="3566160" y="4389120"/>
            <a:ext cx="27432" cy="365760"/>
          </a:xfrm>
          <a:prstGeom prst="rect">
            <a:avLst/>
          </a:prstGeom>
          <a:solidFill>
            <a:srgbClr val="00D26A">
              <a:alpha val="60000"/>
            </a:srgbClr>
          </a:solidFill>
          <a:ln w="12700">
            <a:solidFill>
              <a:srgbClr val="00D26A"/>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628"/>
          </a:solidFill>
          <a:ln w="12700">
            <a:solidFill>
              <a:srgbClr val="0B1628"/>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indent="0" marL="0">
              <a:buNone/>
            </a:pPr>
            <a:r>
              <a:rPr lang="en-US" sz="1100" b="1" spc="400" kern="0" dirty="0">
                <a:solidFill>
                  <a:srgbClr val="00D26A"/>
                </a:solidFill>
                <a:latin typeface="Arial" pitchFamily="34" charset="0"/>
                <a:ea typeface="Arial" pitchFamily="34" charset="-122"/>
                <a:cs typeface="Arial" pitchFamily="34" charset="-120"/>
              </a:rPr>
              <a:t>TARGET MARKET</a:t>
            </a:r>
            <a:endParaRPr lang="en-US" sz="1100" dirty="0"/>
          </a:p>
        </p:txBody>
      </p:sp>
      <p:sp>
        <p:nvSpPr>
          <p:cNvPr id="4" name="Text 2"/>
          <p:cNvSpPr/>
          <p:nvPr/>
        </p:nvSpPr>
        <p:spPr>
          <a:xfrm>
            <a:off x="457200" y="1097280"/>
            <a:ext cx="8229600" cy="594360"/>
          </a:xfrm>
          <a:prstGeom prst="rect">
            <a:avLst/>
          </a:prstGeom>
          <a:noFill/>
          <a:ln/>
        </p:spPr>
        <p:txBody>
          <a:bodyPr wrap="square" rtlCol="0" anchor="ctr"/>
          <a:lstStyle/>
          <a:p>
            <a:pPr indent="0" marL="0">
              <a:buNone/>
            </a:pPr>
            <a:r>
              <a:rPr lang="en-US" sz="2400" b="1" dirty="0">
                <a:solidFill>
                  <a:srgbClr val="0B1628"/>
                </a:solidFill>
                <a:latin typeface="Arial" pitchFamily="34" charset="0"/>
                <a:ea typeface="Arial" pitchFamily="34" charset="-122"/>
                <a:cs typeface="Arial" pitchFamily="34" charset="-120"/>
              </a:rPr>
              <a:t>A Massive, Underserved, Mobile-First Population</a:t>
            </a:r>
            <a:endParaRPr lang="en-US" sz="2400" dirty="0"/>
          </a:p>
        </p:txBody>
      </p:sp>
      <p:sp>
        <p:nvSpPr>
          <p:cNvPr id="5" name="Shape 3"/>
          <p:cNvSpPr/>
          <p:nvPr/>
        </p:nvSpPr>
        <p:spPr>
          <a:xfrm>
            <a:off x="365760" y="1828800"/>
            <a:ext cx="2606040" cy="1280160"/>
          </a:xfrm>
          <a:prstGeom prst="roundRect">
            <a:avLst>
              <a:gd name="adj" fmla="val 857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457200" y="1901952"/>
            <a:ext cx="2423160" cy="658368"/>
          </a:xfrm>
          <a:prstGeom prst="rect">
            <a:avLst/>
          </a:prstGeom>
          <a:noFill/>
          <a:ln/>
        </p:spPr>
        <p:txBody>
          <a:bodyPr wrap="square" rtlCol="0" anchor="ctr"/>
          <a:lstStyle/>
          <a:p>
            <a:pPr algn="ctr" indent="0" marL="0">
              <a:buNone/>
            </a:pPr>
            <a:r>
              <a:rPr lang="en-US" sz="3400" b="1" dirty="0">
                <a:solidFill>
                  <a:srgbClr val="00D26A"/>
                </a:solidFill>
                <a:latin typeface="Arial" pitchFamily="34" charset="0"/>
                <a:ea typeface="Arial" pitchFamily="34" charset="-122"/>
                <a:cs typeface="Arial" pitchFamily="34" charset="-120"/>
              </a:rPr>
              <a:t>40M+</a:t>
            </a:r>
            <a:endParaRPr lang="en-US" sz="3400" dirty="0"/>
          </a:p>
        </p:txBody>
      </p:sp>
      <p:sp>
        <p:nvSpPr>
          <p:cNvPr id="7" name="Text 5"/>
          <p:cNvSpPr/>
          <p:nvPr/>
        </p:nvSpPr>
        <p:spPr>
          <a:xfrm>
            <a:off x="457200" y="2560320"/>
            <a:ext cx="2423160" cy="457200"/>
          </a:xfrm>
          <a:prstGeom prst="rect">
            <a:avLst/>
          </a:prstGeom>
          <a:noFill/>
          <a:ln/>
        </p:spPr>
        <p:txBody>
          <a:bodyPr wrap="square" rtlCol="0" anchor="ctr"/>
          <a:lstStyle/>
          <a:p>
            <a:pPr algn="ctr" indent="0" marL="0">
              <a:buNone/>
            </a:pPr>
            <a:r>
              <a:rPr lang="en-US" sz="950" dirty="0">
                <a:solidFill>
                  <a:srgbClr val="E8EDF5"/>
                </a:solidFill>
                <a:latin typeface="Arial" pitchFamily="34" charset="0"/>
                <a:ea typeface="Arial" pitchFamily="34" charset="-122"/>
                <a:cs typeface="Arial" pitchFamily="34" charset="-120"/>
              </a:rPr>
              <a:t>Smartphone users in South Africa</a:t>
            </a:r>
            <a:endParaRPr lang="en-US" sz="950" dirty="0"/>
          </a:p>
        </p:txBody>
      </p:sp>
      <p:sp>
        <p:nvSpPr>
          <p:cNvPr id="8" name="Shape 6"/>
          <p:cNvSpPr/>
          <p:nvPr/>
        </p:nvSpPr>
        <p:spPr>
          <a:xfrm>
            <a:off x="3200400" y="1828800"/>
            <a:ext cx="2606040" cy="1280160"/>
          </a:xfrm>
          <a:prstGeom prst="roundRect">
            <a:avLst>
              <a:gd name="adj" fmla="val 857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9" name="Text 7"/>
          <p:cNvSpPr/>
          <p:nvPr/>
        </p:nvSpPr>
        <p:spPr>
          <a:xfrm>
            <a:off x="3291840" y="1901952"/>
            <a:ext cx="2423160" cy="658368"/>
          </a:xfrm>
          <a:prstGeom prst="rect">
            <a:avLst/>
          </a:prstGeom>
          <a:noFill/>
          <a:ln/>
        </p:spPr>
        <p:txBody>
          <a:bodyPr wrap="square" rtlCol="0" anchor="ctr"/>
          <a:lstStyle/>
          <a:p>
            <a:pPr algn="ctr" indent="0" marL="0">
              <a:buNone/>
            </a:pPr>
            <a:r>
              <a:rPr lang="en-US" sz="3400" b="1" dirty="0">
                <a:solidFill>
                  <a:srgbClr val="00D26A"/>
                </a:solidFill>
                <a:latin typeface="Arial" pitchFamily="34" charset="0"/>
                <a:ea typeface="Arial" pitchFamily="34" charset="-122"/>
                <a:cs typeface="Arial" pitchFamily="34" charset="-120"/>
              </a:rPr>
              <a:t>72%</a:t>
            </a:r>
            <a:endParaRPr lang="en-US" sz="3400" dirty="0"/>
          </a:p>
        </p:txBody>
      </p:sp>
      <p:sp>
        <p:nvSpPr>
          <p:cNvPr id="10" name="Text 8"/>
          <p:cNvSpPr/>
          <p:nvPr/>
        </p:nvSpPr>
        <p:spPr>
          <a:xfrm>
            <a:off x="3291840" y="2560320"/>
            <a:ext cx="2423160" cy="457200"/>
          </a:xfrm>
          <a:prstGeom prst="rect">
            <a:avLst/>
          </a:prstGeom>
          <a:noFill/>
          <a:ln/>
        </p:spPr>
        <p:txBody>
          <a:bodyPr wrap="square" rtlCol="0" anchor="ctr"/>
          <a:lstStyle/>
          <a:p>
            <a:pPr algn="ctr" indent="0" marL="0">
              <a:buNone/>
            </a:pPr>
            <a:r>
              <a:rPr lang="en-US" sz="950" dirty="0">
                <a:solidFill>
                  <a:srgbClr val="E8EDF5"/>
                </a:solidFill>
                <a:latin typeface="Arial" pitchFamily="34" charset="0"/>
                <a:ea typeface="Arial" pitchFamily="34" charset="-122"/>
                <a:cs typeface="Arial" pitchFamily="34" charset="-120"/>
              </a:rPr>
              <a:t>Of SA internet access is mobile-only</a:t>
            </a:r>
            <a:endParaRPr lang="en-US" sz="950" dirty="0"/>
          </a:p>
        </p:txBody>
      </p:sp>
      <p:sp>
        <p:nvSpPr>
          <p:cNvPr id="11" name="Shape 9"/>
          <p:cNvSpPr/>
          <p:nvPr/>
        </p:nvSpPr>
        <p:spPr>
          <a:xfrm>
            <a:off x="6035040" y="1828800"/>
            <a:ext cx="2606040" cy="1280160"/>
          </a:xfrm>
          <a:prstGeom prst="roundRect">
            <a:avLst>
              <a:gd name="adj" fmla="val 857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12" name="Text 10"/>
          <p:cNvSpPr/>
          <p:nvPr/>
        </p:nvSpPr>
        <p:spPr>
          <a:xfrm>
            <a:off x="6126480" y="1901952"/>
            <a:ext cx="2423160" cy="658368"/>
          </a:xfrm>
          <a:prstGeom prst="rect">
            <a:avLst/>
          </a:prstGeom>
          <a:noFill/>
          <a:ln/>
        </p:spPr>
        <p:txBody>
          <a:bodyPr wrap="square" rtlCol="0" anchor="ctr"/>
          <a:lstStyle/>
          <a:p>
            <a:pPr algn="ctr" indent="0" marL="0">
              <a:buNone/>
            </a:pPr>
            <a:r>
              <a:rPr lang="en-US" sz="3400" b="1" dirty="0">
                <a:solidFill>
                  <a:srgbClr val="00D26A"/>
                </a:solidFill>
                <a:latin typeface="Arial" pitchFamily="34" charset="0"/>
                <a:ea typeface="Arial" pitchFamily="34" charset="-122"/>
                <a:cs typeface="Arial" pitchFamily="34" charset="-120"/>
              </a:rPr>
              <a:t>2.3M+</a:t>
            </a:r>
            <a:endParaRPr lang="en-US" sz="3400" dirty="0"/>
          </a:p>
        </p:txBody>
      </p:sp>
      <p:sp>
        <p:nvSpPr>
          <p:cNvPr id="13" name="Text 11"/>
          <p:cNvSpPr/>
          <p:nvPr/>
        </p:nvSpPr>
        <p:spPr>
          <a:xfrm>
            <a:off x="6126480" y="2560320"/>
            <a:ext cx="2423160" cy="457200"/>
          </a:xfrm>
          <a:prstGeom prst="rect">
            <a:avLst/>
          </a:prstGeom>
          <a:noFill/>
          <a:ln/>
        </p:spPr>
        <p:txBody>
          <a:bodyPr wrap="square" rtlCol="0" anchor="ctr"/>
          <a:lstStyle/>
          <a:p>
            <a:pPr algn="ctr" indent="0" marL="0">
              <a:buNone/>
            </a:pPr>
            <a:r>
              <a:rPr lang="en-US" sz="950" dirty="0">
                <a:solidFill>
                  <a:srgbClr val="E8EDF5"/>
                </a:solidFill>
                <a:latin typeface="Arial" pitchFamily="34" charset="0"/>
                <a:ea typeface="Arial" pitchFamily="34" charset="-122"/>
                <a:cs typeface="Arial" pitchFamily="34" charset="-120"/>
              </a:rPr>
              <a:t>University students — our beachhead</a:t>
            </a:r>
            <a:endParaRPr lang="en-US" sz="950" dirty="0"/>
          </a:p>
        </p:txBody>
      </p:sp>
      <p:sp>
        <p:nvSpPr>
          <p:cNvPr id="14" name="Text 12"/>
          <p:cNvSpPr/>
          <p:nvPr/>
        </p:nvSpPr>
        <p:spPr>
          <a:xfrm>
            <a:off x="457200" y="3291840"/>
            <a:ext cx="8229600" cy="365760"/>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Primary Segments</a:t>
            </a:r>
            <a:endParaRPr lang="en-US" sz="1300" dirty="0"/>
          </a:p>
        </p:txBody>
      </p:sp>
      <p:sp>
        <p:nvSpPr>
          <p:cNvPr id="15" name="Shape 13"/>
          <p:cNvSpPr/>
          <p:nvPr/>
        </p:nvSpPr>
        <p:spPr>
          <a:xfrm>
            <a:off x="365760" y="3703320"/>
            <a:ext cx="2606040" cy="1188720"/>
          </a:xfrm>
          <a:prstGeom prst="roundRect">
            <a:avLst>
              <a:gd name="adj" fmla="val 7692"/>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6" name="Text 14"/>
          <p:cNvSpPr/>
          <p:nvPr/>
        </p:nvSpPr>
        <p:spPr>
          <a:xfrm>
            <a:off x="502920" y="3749040"/>
            <a:ext cx="2331720" cy="347472"/>
          </a:xfrm>
          <a:prstGeom prst="rect">
            <a:avLst/>
          </a:prstGeom>
          <a:noFill/>
          <a:ln/>
        </p:spPr>
        <p:txBody>
          <a:bodyPr wrap="square" rtlCol="0" anchor="ctr"/>
          <a:lstStyle/>
          <a:p>
            <a:pPr indent="0" marL="0">
              <a:buNone/>
            </a:pPr>
            <a:r>
              <a:rPr lang="en-US" sz="1050" b="1" dirty="0">
                <a:solidFill>
                  <a:srgbClr val="0B1628"/>
                </a:solidFill>
                <a:latin typeface="Arial" pitchFamily="34" charset="0"/>
                <a:ea typeface="Arial" pitchFamily="34" charset="-122"/>
                <a:cs typeface="Arial" pitchFamily="34" charset="-120"/>
              </a:rPr>
              <a:t>University Students</a:t>
            </a:r>
            <a:endParaRPr lang="en-US" sz="1050" dirty="0"/>
          </a:p>
        </p:txBody>
      </p:sp>
      <p:sp>
        <p:nvSpPr>
          <p:cNvPr id="17" name="Text 15"/>
          <p:cNvSpPr/>
          <p:nvPr/>
        </p:nvSpPr>
        <p:spPr>
          <a:xfrm>
            <a:off x="502920" y="4096512"/>
            <a:ext cx="2331720" cy="685800"/>
          </a:xfrm>
          <a:prstGeom prst="rect">
            <a:avLst/>
          </a:prstGeom>
          <a:noFill/>
          <a:ln/>
        </p:spPr>
        <p:txBody>
          <a:bodyPr wrap="square" rtlCol="0" anchor="ctr"/>
          <a:lstStyle/>
          <a:p>
            <a:pPr indent="0" marL="0">
              <a:buNone/>
            </a:pPr>
            <a:r>
              <a:rPr lang="en-US" sz="950" dirty="0">
                <a:solidFill>
                  <a:srgbClr val="3A4A60"/>
                </a:solidFill>
                <a:latin typeface="Arial" pitchFamily="34" charset="0"/>
                <a:ea typeface="Arial" pitchFamily="34" charset="-122"/>
                <a:cs typeface="Arial" pitchFamily="34" charset="-120"/>
              </a:rPr>
              <a:t>Data-conscious, seeking affordable tutors, study notes, and peer community.</a:t>
            </a:r>
            <a:endParaRPr lang="en-US" sz="950" dirty="0"/>
          </a:p>
        </p:txBody>
      </p:sp>
      <p:sp>
        <p:nvSpPr>
          <p:cNvPr id="18" name="Shape 16"/>
          <p:cNvSpPr/>
          <p:nvPr/>
        </p:nvSpPr>
        <p:spPr>
          <a:xfrm>
            <a:off x="3200400" y="3703320"/>
            <a:ext cx="2606040" cy="1188720"/>
          </a:xfrm>
          <a:prstGeom prst="roundRect">
            <a:avLst>
              <a:gd name="adj" fmla="val 7692"/>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9" name="Text 17"/>
          <p:cNvSpPr/>
          <p:nvPr/>
        </p:nvSpPr>
        <p:spPr>
          <a:xfrm>
            <a:off x="3337560" y="3749040"/>
            <a:ext cx="2331720" cy="347472"/>
          </a:xfrm>
          <a:prstGeom prst="rect">
            <a:avLst/>
          </a:prstGeom>
          <a:noFill/>
          <a:ln/>
        </p:spPr>
        <p:txBody>
          <a:bodyPr wrap="square" rtlCol="0" anchor="ctr"/>
          <a:lstStyle/>
          <a:p>
            <a:pPr indent="0" marL="0">
              <a:buNone/>
            </a:pPr>
            <a:r>
              <a:rPr lang="en-US" sz="1050" b="1" dirty="0">
                <a:solidFill>
                  <a:srgbClr val="0B1628"/>
                </a:solidFill>
                <a:latin typeface="Arial" pitchFamily="34" charset="0"/>
                <a:ea typeface="Arial" pitchFamily="34" charset="-122"/>
                <a:cs typeface="Arial" pitchFamily="34" charset="-120"/>
              </a:rPr>
              <a:t>Township &amp; Suburban Youth</a:t>
            </a:r>
            <a:endParaRPr lang="en-US" sz="1050" dirty="0"/>
          </a:p>
        </p:txBody>
      </p:sp>
      <p:sp>
        <p:nvSpPr>
          <p:cNvPr id="20" name="Text 18"/>
          <p:cNvSpPr/>
          <p:nvPr/>
        </p:nvSpPr>
        <p:spPr>
          <a:xfrm>
            <a:off x="3337560" y="4096512"/>
            <a:ext cx="2331720" cy="685800"/>
          </a:xfrm>
          <a:prstGeom prst="rect">
            <a:avLst/>
          </a:prstGeom>
          <a:noFill/>
          <a:ln/>
        </p:spPr>
        <p:txBody>
          <a:bodyPr wrap="square" rtlCol="0" anchor="ctr"/>
          <a:lstStyle/>
          <a:p>
            <a:pPr indent="0" marL="0">
              <a:buNone/>
            </a:pPr>
            <a:r>
              <a:rPr lang="en-US" sz="950" dirty="0">
                <a:solidFill>
                  <a:srgbClr val="3A4A60"/>
                </a:solidFill>
                <a:latin typeface="Arial" pitchFamily="34" charset="0"/>
                <a:ea typeface="Arial" pitchFamily="34" charset="-122"/>
                <a:cs typeface="Arial" pitchFamily="34" charset="-120"/>
              </a:rPr>
              <a:t>Mobile-dependent, community-driven, safety-aware — natural super-app adopters.</a:t>
            </a:r>
            <a:endParaRPr lang="en-US" sz="950" dirty="0"/>
          </a:p>
        </p:txBody>
      </p:sp>
      <p:sp>
        <p:nvSpPr>
          <p:cNvPr id="21" name="Shape 19"/>
          <p:cNvSpPr/>
          <p:nvPr/>
        </p:nvSpPr>
        <p:spPr>
          <a:xfrm>
            <a:off x="6035040" y="3703320"/>
            <a:ext cx="2606040" cy="1188720"/>
          </a:xfrm>
          <a:prstGeom prst="roundRect">
            <a:avLst>
              <a:gd name="adj" fmla="val 7692"/>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22" name="Text 20"/>
          <p:cNvSpPr/>
          <p:nvPr/>
        </p:nvSpPr>
        <p:spPr>
          <a:xfrm>
            <a:off x="6172200" y="3749040"/>
            <a:ext cx="2331720" cy="347472"/>
          </a:xfrm>
          <a:prstGeom prst="rect">
            <a:avLst/>
          </a:prstGeom>
          <a:noFill/>
          <a:ln/>
        </p:spPr>
        <p:txBody>
          <a:bodyPr wrap="square" rtlCol="0" anchor="ctr"/>
          <a:lstStyle/>
          <a:p>
            <a:pPr indent="0" marL="0">
              <a:buNone/>
            </a:pPr>
            <a:r>
              <a:rPr lang="en-US" sz="1050" b="1" dirty="0">
                <a:solidFill>
                  <a:srgbClr val="0B1628"/>
                </a:solidFill>
                <a:latin typeface="Arial" pitchFamily="34" charset="0"/>
                <a:ea typeface="Arial" pitchFamily="34" charset="-122"/>
                <a:cs typeface="Arial" pitchFamily="34" charset="-120"/>
              </a:rPr>
              <a:t>Neighbourhood Watches</a:t>
            </a:r>
            <a:endParaRPr lang="en-US" sz="1050" dirty="0"/>
          </a:p>
        </p:txBody>
      </p:sp>
      <p:sp>
        <p:nvSpPr>
          <p:cNvPr id="23" name="Text 21"/>
          <p:cNvSpPr/>
          <p:nvPr/>
        </p:nvSpPr>
        <p:spPr>
          <a:xfrm>
            <a:off x="6172200" y="4096512"/>
            <a:ext cx="2331720" cy="685800"/>
          </a:xfrm>
          <a:prstGeom prst="rect">
            <a:avLst/>
          </a:prstGeom>
          <a:noFill/>
          <a:ln/>
        </p:spPr>
        <p:txBody>
          <a:bodyPr wrap="square" rtlCol="0" anchor="ctr"/>
          <a:lstStyle/>
          <a:p>
            <a:pPr indent="0" marL="0">
              <a:buNone/>
            </a:pPr>
            <a:r>
              <a:rPr lang="en-US" sz="950" dirty="0">
                <a:solidFill>
                  <a:srgbClr val="3A4A60"/>
                </a:solidFill>
                <a:latin typeface="Arial" pitchFamily="34" charset="0"/>
                <a:ea typeface="Arial" pitchFamily="34" charset="-122"/>
                <a:cs typeface="Arial" pitchFamily="34" charset="-120"/>
              </a:rPr>
              <a:t>Hyper-local safety groups currently relying on fragmented WhatsApp chains.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6858000" y="2286000"/>
            <a:ext cx="3200400" cy="3200400"/>
          </a:xfrm>
          <a:prstGeom prst="ellipse">
            <a:avLst/>
          </a:prstGeom>
          <a:solidFill>
            <a:srgbClr val="00D26A">
              <a:alpha val="8000"/>
            </a:srgbClr>
          </a:solidFill>
          <a:ln w="12700">
            <a:solidFill>
              <a:srgbClr val="00D26A">
                <a:alpha val="0"/>
              </a:srgbClr>
            </a:solidFill>
            <a:prstDash val="solid"/>
          </a:ln>
        </p:spPr>
      </p:sp>
      <p:sp>
        <p:nvSpPr>
          <p:cNvPr id="3" name="Text 1"/>
          <p:cNvSpPr/>
          <p:nvPr/>
        </p:nvSpPr>
        <p:spPr>
          <a:xfrm>
            <a:off x="548640" y="274320"/>
            <a:ext cx="8229600" cy="347472"/>
          </a:xfrm>
          <a:prstGeom prst="rect">
            <a:avLst/>
          </a:prstGeom>
          <a:noFill/>
          <a:ln/>
        </p:spPr>
        <p:txBody>
          <a:bodyPr wrap="square" rtlCol="0" anchor="ctr"/>
          <a:lstStyle/>
          <a:p>
            <a:pPr indent="0" marL="0">
              <a:buNone/>
            </a:pPr>
            <a:r>
              <a:rPr lang="en-US" sz="1000" b="1" spc="400" kern="0" dirty="0">
                <a:solidFill>
                  <a:srgbClr val="00D26A"/>
                </a:solidFill>
                <a:latin typeface="Arial" pitchFamily="34" charset="0"/>
                <a:ea typeface="Arial" pitchFamily="34" charset="-122"/>
                <a:cs typeface="Arial" pitchFamily="34" charset="-120"/>
              </a:rPr>
              <a:t>BUSINESS MODEL</a:t>
            </a:r>
            <a:endParaRPr lang="en-US" sz="1000" dirty="0"/>
          </a:p>
        </p:txBody>
      </p:sp>
      <p:sp>
        <p:nvSpPr>
          <p:cNvPr id="4" name="Text 2"/>
          <p:cNvSpPr/>
          <p:nvPr/>
        </p:nvSpPr>
        <p:spPr>
          <a:xfrm>
            <a:off x="548640" y="685800"/>
            <a:ext cx="68580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Multiple Revenue Streams. One Platform.</a:t>
            </a:r>
            <a:endParaRPr lang="en-US" sz="2800" dirty="0"/>
          </a:p>
        </p:txBody>
      </p:sp>
      <p:sp>
        <p:nvSpPr>
          <p:cNvPr id="5" name="Shape 3"/>
          <p:cNvSpPr/>
          <p:nvPr/>
        </p:nvSpPr>
        <p:spPr>
          <a:xfrm>
            <a:off x="548640" y="1508760"/>
            <a:ext cx="8046720" cy="713232"/>
          </a:xfrm>
          <a:prstGeom prst="roundRect">
            <a:avLst>
              <a:gd name="adj" fmla="val 12821"/>
            </a:avLst>
          </a:prstGeom>
          <a:solidFill>
            <a:srgbClr val="1A2E4A"/>
          </a:solidFill>
          <a:ln w="12700">
            <a:solidFill>
              <a:srgbClr val="243556"/>
            </a:solidFill>
            <a:prstDash val="solid"/>
          </a:ln>
        </p:spPr>
      </p:sp>
      <p:sp>
        <p:nvSpPr>
          <p:cNvPr id="6" name="Shape 4"/>
          <p:cNvSpPr/>
          <p:nvPr/>
        </p:nvSpPr>
        <p:spPr>
          <a:xfrm>
            <a:off x="685800" y="1673352"/>
            <a:ext cx="868680" cy="292608"/>
          </a:xfrm>
          <a:prstGeom prst="roundRect">
            <a:avLst>
              <a:gd name="adj" fmla="val 18750"/>
            </a:avLst>
          </a:prstGeom>
          <a:solidFill>
            <a:srgbClr val="00D26A">
              <a:alpha val="80000"/>
            </a:srgbClr>
          </a:solidFill>
          <a:ln w="12700">
            <a:solidFill>
              <a:srgbClr val="00D26A"/>
            </a:solidFill>
            <a:prstDash val="solid"/>
          </a:ln>
        </p:spPr>
      </p:sp>
      <p:sp>
        <p:nvSpPr>
          <p:cNvPr id="7" name="Text 5"/>
          <p:cNvSpPr/>
          <p:nvPr/>
        </p:nvSpPr>
        <p:spPr>
          <a:xfrm>
            <a:off x="685800" y="1655064"/>
            <a:ext cx="868680" cy="310896"/>
          </a:xfrm>
          <a:prstGeom prst="rect">
            <a:avLst/>
          </a:prstGeom>
          <a:noFill/>
          <a:ln/>
        </p:spPr>
        <p:txBody>
          <a:bodyPr wrap="square" rtlCol="0" anchor="ctr"/>
          <a:lstStyle/>
          <a:p>
            <a:pPr algn="ctr" indent="0" marL="0">
              <a:buNone/>
            </a:pPr>
            <a:r>
              <a:rPr lang="en-US" sz="750" b="1" dirty="0">
                <a:solidFill>
                  <a:srgbClr val="00D26A"/>
                </a:solidFill>
                <a:latin typeface="Arial" pitchFamily="34" charset="0"/>
                <a:ea typeface="Arial" pitchFamily="34" charset="-122"/>
                <a:cs typeface="Arial" pitchFamily="34" charset="-120"/>
              </a:rPr>
              <a:t>PHASE 1</a:t>
            </a:r>
            <a:endParaRPr lang="en-US" sz="750" dirty="0"/>
          </a:p>
        </p:txBody>
      </p:sp>
      <p:sp>
        <p:nvSpPr>
          <p:cNvPr id="8" name="Text 6"/>
          <p:cNvSpPr/>
          <p:nvPr/>
        </p:nvSpPr>
        <p:spPr>
          <a:xfrm>
            <a:off x="1664208" y="1600200"/>
            <a:ext cx="2194560" cy="31089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Freemium → Premium</a:t>
            </a:r>
            <a:endParaRPr lang="en-US" sz="1200" dirty="0"/>
          </a:p>
        </p:txBody>
      </p:sp>
      <p:sp>
        <p:nvSpPr>
          <p:cNvPr id="9" name="Text 7"/>
          <p:cNvSpPr/>
          <p:nvPr/>
        </p:nvSpPr>
        <p:spPr>
          <a:xfrm>
            <a:off x="3977640" y="1618488"/>
            <a:ext cx="4480560" cy="502920"/>
          </a:xfrm>
          <a:prstGeom prst="rect">
            <a:avLst/>
          </a:prstGeom>
          <a:noFill/>
          <a:ln/>
        </p:spPr>
        <p:txBody>
          <a:bodyPr wrap="square" rtlCol="0" anchor="ctr"/>
          <a:lstStyle/>
          <a:p>
            <a:pPr indent="0" marL="0">
              <a:buNone/>
            </a:pPr>
            <a:r>
              <a:rPr lang="en-US" sz="1000" dirty="0">
                <a:solidFill>
                  <a:srgbClr val="8A9BBB"/>
                </a:solidFill>
                <a:latin typeface="Arial" pitchFamily="34" charset="0"/>
                <a:ea typeface="Arial" pitchFamily="34" charset="-122"/>
                <a:cs typeface="Arial" pitchFamily="34" charset="-120"/>
              </a:rPr>
              <a:t>Free core access. Paid premium tiers for advanced features, larger communities, and priority SOS.</a:t>
            </a:r>
            <a:endParaRPr lang="en-US" sz="1000" dirty="0"/>
          </a:p>
        </p:txBody>
      </p:sp>
      <p:sp>
        <p:nvSpPr>
          <p:cNvPr id="10" name="Shape 8"/>
          <p:cNvSpPr/>
          <p:nvPr/>
        </p:nvSpPr>
        <p:spPr>
          <a:xfrm>
            <a:off x="3840480" y="1673352"/>
            <a:ext cx="27432" cy="384048"/>
          </a:xfrm>
          <a:prstGeom prst="rect">
            <a:avLst/>
          </a:prstGeom>
          <a:solidFill>
            <a:srgbClr val="00D26A">
              <a:alpha val="60000"/>
            </a:srgbClr>
          </a:solidFill>
          <a:ln w="12700">
            <a:solidFill>
              <a:srgbClr val="00D26A"/>
            </a:solidFill>
            <a:prstDash val="solid"/>
          </a:ln>
        </p:spPr>
      </p:sp>
      <p:sp>
        <p:nvSpPr>
          <p:cNvPr id="11" name="Shape 9"/>
          <p:cNvSpPr/>
          <p:nvPr/>
        </p:nvSpPr>
        <p:spPr>
          <a:xfrm>
            <a:off x="548640" y="2331720"/>
            <a:ext cx="8046720" cy="713232"/>
          </a:xfrm>
          <a:prstGeom prst="roundRect">
            <a:avLst>
              <a:gd name="adj" fmla="val 12821"/>
            </a:avLst>
          </a:prstGeom>
          <a:solidFill>
            <a:srgbClr val="1A2E4A"/>
          </a:solidFill>
          <a:ln w="12700">
            <a:solidFill>
              <a:srgbClr val="243556"/>
            </a:solidFill>
            <a:prstDash val="solid"/>
          </a:ln>
        </p:spPr>
      </p:sp>
      <p:sp>
        <p:nvSpPr>
          <p:cNvPr id="12" name="Shape 10"/>
          <p:cNvSpPr/>
          <p:nvPr/>
        </p:nvSpPr>
        <p:spPr>
          <a:xfrm>
            <a:off x="685800" y="2496312"/>
            <a:ext cx="868680" cy="292608"/>
          </a:xfrm>
          <a:prstGeom prst="roundRect">
            <a:avLst>
              <a:gd name="adj" fmla="val 18750"/>
            </a:avLst>
          </a:prstGeom>
          <a:solidFill>
            <a:srgbClr val="60A5FA">
              <a:alpha val="80000"/>
            </a:srgbClr>
          </a:solidFill>
          <a:ln w="12700">
            <a:solidFill>
              <a:srgbClr val="60A5FA"/>
            </a:solidFill>
            <a:prstDash val="solid"/>
          </a:ln>
        </p:spPr>
      </p:sp>
      <p:sp>
        <p:nvSpPr>
          <p:cNvPr id="13" name="Text 11"/>
          <p:cNvSpPr/>
          <p:nvPr/>
        </p:nvSpPr>
        <p:spPr>
          <a:xfrm>
            <a:off x="685800" y="2478024"/>
            <a:ext cx="868680" cy="310896"/>
          </a:xfrm>
          <a:prstGeom prst="rect">
            <a:avLst/>
          </a:prstGeom>
          <a:noFill/>
          <a:ln/>
        </p:spPr>
        <p:txBody>
          <a:bodyPr wrap="square" rtlCol="0" anchor="ctr"/>
          <a:lstStyle/>
          <a:p>
            <a:pPr algn="ctr" indent="0" marL="0">
              <a:buNone/>
            </a:pPr>
            <a:r>
              <a:rPr lang="en-US" sz="750" b="1" dirty="0">
                <a:solidFill>
                  <a:srgbClr val="60A5FA"/>
                </a:solidFill>
                <a:latin typeface="Arial" pitchFamily="34" charset="0"/>
                <a:ea typeface="Arial" pitchFamily="34" charset="-122"/>
                <a:cs typeface="Arial" pitchFamily="34" charset="-120"/>
              </a:rPr>
              <a:t>PHASE 2</a:t>
            </a:r>
            <a:endParaRPr lang="en-US" sz="750" dirty="0"/>
          </a:p>
        </p:txBody>
      </p:sp>
      <p:sp>
        <p:nvSpPr>
          <p:cNvPr id="14" name="Text 12"/>
          <p:cNvSpPr/>
          <p:nvPr/>
        </p:nvSpPr>
        <p:spPr>
          <a:xfrm>
            <a:off x="1664208" y="2423160"/>
            <a:ext cx="2194560" cy="31089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Marketplace Commission</a:t>
            </a:r>
            <a:endParaRPr lang="en-US" sz="1200" dirty="0"/>
          </a:p>
        </p:txBody>
      </p:sp>
      <p:sp>
        <p:nvSpPr>
          <p:cNvPr id="15" name="Text 13"/>
          <p:cNvSpPr/>
          <p:nvPr/>
        </p:nvSpPr>
        <p:spPr>
          <a:xfrm>
            <a:off x="3977640" y="2441448"/>
            <a:ext cx="4480560" cy="502920"/>
          </a:xfrm>
          <a:prstGeom prst="rect">
            <a:avLst/>
          </a:prstGeom>
          <a:noFill/>
          <a:ln/>
        </p:spPr>
        <p:txBody>
          <a:bodyPr wrap="square" rtlCol="0" anchor="ctr"/>
          <a:lstStyle/>
          <a:p>
            <a:pPr indent="0" marL="0">
              <a:buNone/>
            </a:pPr>
            <a:r>
              <a:rPr lang="en-US" sz="1000" dirty="0">
                <a:solidFill>
                  <a:srgbClr val="8A9BBB"/>
                </a:solidFill>
                <a:latin typeface="Arial" pitchFamily="34" charset="0"/>
                <a:ea typeface="Arial" pitchFamily="34" charset="-122"/>
                <a:cs typeface="Arial" pitchFamily="34" charset="-120"/>
              </a:rPr>
              <a:t>Education Hub takes a 10–15% commission on every tutor booking and note transaction.</a:t>
            </a:r>
            <a:endParaRPr lang="en-US" sz="1000" dirty="0"/>
          </a:p>
        </p:txBody>
      </p:sp>
      <p:sp>
        <p:nvSpPr>
          <p:cNvPr id="16" name="Shape 14"/>
          <p:cNvSpPr/>
          <p:nvPr/>
        </p:nvSpPr>
        <p:spPr>
          <a:xfrm>
            <a:off x="3840480" y="2496312"/>
            <a:ext cx="27432" cy="384048"/>
          </a:xfrm>
          <a:prstGeom prst="rect">
            <a:avLst/>
          </a:prstGeom>
          <a:solidFill>
            <a:srgbClr val="60A5FA">
              <a:alpha val="60000"/>
            </a:srgbClr>
          </a:solidFill>
          <a:ln w="12700">
            <a:solidFill>
              <a:srgbClr val="60A5FA"/>
            </a:solidFill>
            <a:prstDash val="solid"/>
          </a:ln>
        </p:spPr>
      </p:sp>
      <p:sp>
        <p:nvSpPr>
          <p:cNvPr id="17" name="Shape 15"/>
          <p:cNvSpPr/>
          <p:nvPr/>
        </p:nvSpPr>
        <p:spPr>
          <a:xfrm>
            <a:off x="548640" y="3154680"/>
            <a:ext cx="8046720" cy="713232"/>
          </a:xfrm>
          <a:prstGeom prst="roundRect">
            <a:avLst>
              <a:gd name="adj" fmla="val 12821"/>
            </a:avLst>
          </a:prstGeom>
          <a:solidFill>
            <a:srgbClr val="1A2E4A"/>
          </a:solidFill>
          <a:ln w="12700">
            <a:solidFill>
              <a:srgbClr val="243556"/>
            </a:solidFill>
            <a:prstDash val="solid"/>
          </a:ln>
        </p:spPr>
      </p:sp>
      <p:sp>
        <p:nvSpPr>
          <p:cNvPr id="18" name="Shape 16"/>
          <p:cNvSpPr/>
          <p:nvPr/>
        </p:nvSpPr>
        <p:spPr>
          <a:xfrm>
            <a:off x="685800" y="3319272"/>
            <a:ext cx="868680" cy="292608"/>
          </a:xfrm>
          <a:prstGeom prst="roundRect">
            <a:avLst>
              <a:gd name="adj" fmla="val 18750"/>
            </a:avLst>
          </a:prstGeom>
          <a:solidFill>
            <a:srgbClr val="FBBF24">
              <a:alpha val="80000"/>
            </a:srgbClr>
          </a:solidFill>
          <a:ln w="12700">
            <a:solidFill>
              <a:srgbClr val="FBBF24"/>
            </a:solidFill>
            <a:prstDash val="solid"/>
          </a:ln>
        </p:spPr>
      </p:sp>
      <p:sp>
        <p:nvSpPr>
          <p:cNvPr id="19" name="Text 17"/>
          <p:cNvSpPr/>
          <p:nvPr/>
        </p:nvSpPr>
        <p:spPr>
          <a:xfrm>
            <a:off x="685800" y="3300984"/>
            <a:ext cx="868680" cy="310896"/>
          </a:xfrm>
          <a:prstGeom prst="rect">
            <a:avLst/>
          </a:prstGeom>
          <a:noFill/>
          <a:ln/>
        </p:spPr>
        <p:txBody>
          <a:bodyPr wrap="square" rtlCol="0" anchor="ctr"/>
          <a:lstStyle/>
          <a:p>
            <a:pPr algn="ctr" indent="0" marL="0">
              <a:buNone/>
            </a:pPr>
            <a:r>
              <a:rPr lang="en-US" sz="750" b="1" dirty="0">
                <a:solidFill>
                  <a:srgbClr val="FBBF24"/>
                </a:solidFill>
                <a:latin typeface="Arial" pitchFamily="34" charset="0"/>
                <a:ea typeface="Arial" pitchFamily="34" charset="-122"/>
                <a:cs typeface="Arial" pitchFamily="34" charset="-120"/>
              </a:rPr>
              <a:t>PHASE 3</a:t>
            </a:r>
            <a:endParaRPr lang="en-US" sz="750" dirty="0"/>
          </a:p>
        </p:txBody>
      </p:sp>
      <p:sp>
        <p:nvSpPr>
          <p:cNvPr id="20" name="Text 18"/>
          <p:cNvSpPr/>
          <p:nvPr/>
        </p:nvSpPr>
        <p:spPr>
          <a:xfrm>
            <a:off x="1664208" y="3246120"/>
            <a:ext cx="2194560" cy="31089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Hyper-Local Advertising</a:t>
            </a:r>
            <a:endParaRPr lang="en-US" sz="1200" dirty="0"/>
          </a:p>
        </p:txBody>
      </p:sp>
      <p:sp>
        <p:nvSpPr>
          <p:cNvPr id="21" name="Text 19"/>
          <p:cNvSpPr/>
          <p:nvPr/>
        </p:nvSpPr>
        <p:spPr>
          <a:xfrm>
            <a:off x="3977640" y="3264408"/>
            <a:ext cx="4480560" cy="502920"/>
          </a:xfrm>
          <a:prstGeom prst="rect">
            <a:avLst/>
          </a:prstGeom>
          <a:noFill/>
          <a:ln/>
        </p:spPr>
        <p:txBody>
          <a:bodyPr wrap="square" rtlCol="0" anchor="ctr"/>
          <a:lstStyle/>
          <a:p>
            <a:pPr indent="0" marL="0">
              <a:buNone/>
            </a:pPr>
            <a:r>
              <a:rPr lang="en-US" sz="1000" dirty="0">
                <a:solidFill>
                  <a:srgbClr val="8A9BBB"/>
                </a:solidFill>
                <a:latin typeface="Arial" pitchFamily="34" charset="0"/>
                <a:ea typeface="Arial" pitchFamily="34" charset="-122"/>
                <a:cs typeface="Arial" pitchFamily="34" charset="-120"/>
              </a:rPr>
              <a:t>Geo-targeted ads and sponsored community posts for local SMEs reaching verified neighbourhoods.</a:t>
            </a:r>
            <a:endParaRPr lang="en-US" sz="1000" dirty="0"/>
          </a:p>
        </p:txBody>
      </p:sp>
      <p:sp>
        <p:nvSpPr>
          <p:cNvPr id="22" name="Shape 20"/>
          <p:cNvSpPr/>
          <p:nvPr/>
        </p:nvSpPr>
        <p:spPr>
          <a:xfrm>
            <a:off x="3840480" y="3319272"/>
            <a:ext cx="27432" cy="384048"/>
          </a:xfrm>
          <a:prstGeom prst="rect">
            <a:avLst/>
          </a:prstGeom>
          <a:solidFill>
            <a:srgbClr val="FBBF24">
              <a:alpha val="60000"/>
            </a:srgbClr>
          </a:solidFill>
          <a:ln w="12700">
            <a:solidFill>
              <a:srgbClr val="FBBF24"/>
            </a:solidFill>
            <a:prstDash val="solid"/>
          </a:ln>
        </p:spPr>
      </p:sp>
      <p:sp>
        <p:nvSpPr>
          <p:cNvPr id="23" name="Shape 21"/>
          <p:cNvSpPr/>
          <p:nvPr/>
        </p:nvSpPr>
        <p:spPr>
          <a:xfrm>
            <a:off x="548640" y="3977640"/>
            <a:ext cx="8046720" cy="713232"/>
          </a:xfrm>
          <a:prstGeom prst="roundRect">
            <a:avLst>
              <a:gd name="adj" fmla="val 12821"/>
            </a:avLst>
          </a:prstGeom>
          <a:solidFill>
            <a:srgbClr val="1A2E4A"/>
          </a:solidFill>
          <a:ln w="12700">
            <a:solidFill>
              <a:srgbClr val="243556"/>
            </a:solidFill>
            <a:prstDash val="solid"/>
          </a:ln>
        </p:spPr>
      </p:sp>
      <p:sp>
        <p:nvSpPr>
          <p:cNvPr id="24" name="Shape 22"/>
          <p:cNvSpPr/>
          <p:nvPr/>
        </p:nvSpPr>
        <p:spPr>
          <a:xfrm>
            <a:off x="685800" y="4142232"/>
            <a:ext cx="868680" cy="292608"/>
          </a:xfrm>
          <a:prstGeom prst="roundRect">
            <a:avLst>
              <a:gd name="adj" fmla="val 18750"/>
            </a:avLst>
          </a:prstGeom>
          <a:solidFill>
            <a:srgbClr val="F87171">
              <a:alpha val="80000"/>
            </a:srgbClr>
          </a:solidFill>
          <a:ln w="12700">
            <a:solidFill>
              <a:srgbClr val="F87171"/>
            </a:solidFill>
            <a:prstDash val="solid"/>
          </a:ln>
        </p:spPr>
      </p:sp>
      <p:sp>
        <p:nvSpPr>
          <p:cNvPr id="25" name="Text 23"/>
          <p:cNvSpPr/>
          <p:nvPr/>
        </p:nvSpPr>
        <p:spPr>
          <a:xfrm>
            <a:off x="685800" y="4123944"/>
            <a:ext cx="868680" cy="310896"/>
          </a:xfrm>
          <a:prstGeom prst="rect">
            <a:avLst/>
          </a:prstGeom>
          <a:noFill/>
          <a:ln/>
        </p:spPr>
        <p:txBody>
          <a:bodyPr wrap="square" rtlCol="0" anchor="ctr"/>
          <a:lstStyle/>
          <a:p>
            <a:pPr algn="ctr" indent="0" marL="0">
              <a:buNone/>
            </a:pPr>
            <a:r>
              <a:rPr lang="en-US" sz="750" b="1" dirty="0">
                <a:solidFill>
                  <a:srgbClr val="F87171"/>
                </a:solidFill>
                <a:latin typeface="Arial" pitchFamily="34" charset="0"/>
                <a:ea typeface="Arial" pitchFamily="34" charset="-122"/>
                <a:cs typeface="Arial" pitchFamily="34" charset="-120"/>
              </a:rPr>
              <a:t>PHASE 4</a:t>
            </a:r>
            <a:endParaRPr lang="en-US" sz="750" dirty="0"/>
          </a:p>
        </p:txBody>
      </p:sp>
      <p:sp>
        <p:nvSpPr>
          <p:cNvPr id="26" name="Text 24"/>
          <p:cNvSpPr/>
          <p:nvPr/>
        </p:nvSpPr>
        <p:spPr>
          <a:xfrm>
            <a:off x="1664208" y="4069080"/>
            <a:ext cx="2194560" cy="310896"/>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Commerce &amp; Payments</a:t>
            </a:r>
            <a:endParaRPr lang="en-US" sz="1200" dirty="0"/>
          </a:p>
        </p:txBody>
      </p:sp>
      <p:sp>
        <p:nvSpPr>
          <p:cNvPr id="27" name="Text 25"/>
          <p:cNvSpPr/>
          <p:nvPr/>
        </p:nvSpPr>
        <p:spPr>
          <a:xfrm>
            <a:off x="3977640" y="4087368"/>
            <a:ext cx="4480560" cy="502920"/>
          </a:xfrm>
          <a:prstGeom prst="rect">
            <a:avLst/>
          </a:prstGeom>
          <a:noFill/>
          <a:ln/>
        </p:spPr>
        <p:txBody>
          <a:bodyPr wrap="square" rtlCol="0" anchor="ctr"/>
          <a:lstStyle/>
          <a:p>
            <a:pPr indent="0" marL="0">
              <a:buNone/>
            </a:pPr>
            <a:r>
              <a:rPr lang="en-US" sz="1000" dirty="0">
                <a:solidFill>
                  <a:srgbClr val="8A9BBB"/>
                </a:solidFill>
                <a:latin typeface="Arial" pitchFamily="34" charset="0"/>
                <a:ea typeface="Arial" pitchFamily="34" charset="-122"/>
                <a:cs typeface="Arial" pitchFamily="34" charset="-120"/>
              </a:rPr>
              <a:t>Transaction fees on the integrated payment layer and hyperlocal delivery — our long-term moat.</a:t>
            </a:r>
            <a:endParaRPr lang="en-US" sz="1000" dirty="0"/>
          </a:p>
        </p:txBody>
      </p:sp>
      <p:sp>
        <p:nvSpPr>
          <p:cNvPr id="28" name="Shape 26"/>
          <p:cNvSpPr/>
          <p:nvPr/>
        </p:nvSpPr>
        <p:spPr>
          <a:xfrm>
            <a:off x="3840480" y="4142232"/>
            <a:ext cx="27432" cy="384048"/>
          </a:xfrm>
          <a:prstGeom prst="rect">
            <a:avLst/>
          </a:prstGeom>
          <a:solidFill>
            <a:srgbClr val="F87171">
              <a:alpha val="60000"/>
            </a:srgbClr>
          </a:solidFill>
          <a:ln w="12700">
            <a:solidFill>
              <a:srgbClr val="F8717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628"/>
          </a:solidFill>
          <a:ln w="12700">
            <a:solidFill>
              <a:srgbClr val="0B1628"/>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indent="0" marL="0">
              <a:buNone/>
            </a:pPr>
            <a:r>
              <a:rPr lang="en-US" sz="1100" b="1" spc="400" kern="0" dirty="0">
                <a:solidFill>
                  <a:srgbClr val="00D26A"/>
                </a:solidFill>
                <a:latin typeface="Arial" pitchFamily="34" charset="0"/>
                <a:ea typeface="Arial" pitchFamily="34" charset="-122"/>
                <a:cs typeface="Arial" pitchFamily="34" charset="-120"/>
              </a:rPr>
              <a:t>TRACTION &amp; VALIDATION</a:t>
            </a:r>
            <a:endParaRPr lang="en-US" sz="1100" dirty="0"/>
          </a:p>
        </p:txBody>
      </p:sp>
      <p:sp>
        <p:nvSpPr>
          <p:cNvPr id="4" name="Text 2"/>
          <p:cNvSpPr/>
          <p:nvPr/>
        </p:nvSpPr>
        <p:spPr>
          <a:xfrm>
            <a:off x="457200" y="1097280"/>
            <a:ext cx="8229600" cy="594360"/>
          </a:xfrm>
          <a:prstGeom prst="rect">
            <a:avLst/>
          </a:prstGeom>
          <a:noFill/>
          <a:ln/>
        </p:spPr>
        <p:txBody>
          <a:bodyPr wrap="square" rtlCol="0" anchor="ctr"/>
          <a:lstStyle/>
          <a:p>
            <a:pPr indent="0" marL="0">
              <a:buNone/>
            </a:pPr>
            <a:r>
              <a:rPr lang="en-US" sz="2400" b="1" dirty="0">
                <a:solidFill>
                  <a:srgbClr val="0B1628"/>
                </a:solidFill>
                <a:latin typeface="Arial" pitchFamily="34" charset="0"/>
                <a:ea typeface="Arial" pitchFamily="34" charset="-122"/>
                <a:cs typeface="Arial" pitchFamily="34" charset="-120"/>
              </a:rPr>
              <a:t>From Zero to MVP — Built and Ready to Launch</a:t>
            </a:r>
            <a:endParaRPr lang="en-US" sz="2400" dirty="0"/>
          </a:p>
        </p:txBody>
      </p:sp>
      <p:sp>
        <p:nvSpPr>
          <p:cNvPr id="5" name="Shape 3"/>
          <p:cNvSpPr/>
          <p:nvPr/>
        </p:nvSpPr>
        <p:spPr>
          <a:xfrm>
            <a:off x="365760" y="1828800"/>
            <a:ext cx="2606040" cy="1188720"/>
          </a:xfrm>
          <a:prstGeom prst="roundRect">
            <a:avLst>
              <a:gd name="adj" fmla="val 923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6" name="Text 4"/>
          <p:cNvSpPr/>
          <p:nvPr/>
        </p:nvSpPr>
        <p:spPr>
          <a:xfrm>
            <a:off x="457200" y="1892808"/>
            <a:ext cx="2423160" cy="548640"/>
          </a:xfrm>
          <a:prstGeom prst="rect">
            <a:avLst/>
          </a:prstGeom>
          <a:noFill/>
          <a:ln/>
        </p:spPr>
        <p:txBody>
          <a:bodyPr wrap="square" rtlCol="0" anchor="ctr"/>
          <a:lstStyle/>
          <a:p>
            <a:pPr algn="ctr" indent="0" marL="0">
              <a:buNone/>
            </a:pPr>
            <a:r>
              <a:rPr lang="en-US" sz="3200" b="1" dirty="0">
                <a:solidFill>
                  <a:srgbClr val="00D26A"/>
                </a:solidFill>
                <a:latin typeface="Arial" pitchFamily="34" charset="0"/>
                <a:ea typeface="Arial" pitchFamily="34" charset="-122"/>
                <a:cs typeface="Arial" pitchFamily="34" charset="-120"/>
              </a:rPr>
              <a:t>39,000</a:t>
            </a:r>
            <a:endParaRPr lang="en-US" sz="3200" dirty="0"/>
          </a:p>
        </p:txBody>
      </p:sp>
      <p:sp>
        <p:nvSpPr>
          <p:cNvPr id="7" name="Text 5"/>
          <p:cNvSpPr/>
          <p:nvPr/>
        </p:nvSpPr>
        <p:spPr>
          <a:xfrm>
            <a:off x="457200" y="2423160"/>
            <a:ext cx="24231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lines</a:t>
            </a:r>
            <a:endParaRPr lang="en-US" sz="1000" dirty="0"/>
          </a:p>
        </p:txBody>
      </p:sp>
      <p:sp>
        <p:nvSpPr>
          <p:cNvPr id="8" name="Text 6"/>
          <p:cNvSpPr/>
          <p:nvPr/>
        </p:nvSpPr>
        <p:spPr>
          <a:xfrm>
            <a:off x="457200" y="2679192"/>
            <a:ext cx="2423160" cy="256032"/>
          </a:xfrm>
          <a:prstGeom prst="rect">
            <a:avLst/>
          </a:prstGeom>
          <a:noFill/>
          <a:ln/>
        </p:spPr>
        <p:txBody>
          <a:bodyPr wrap="square" rtlCol="0" anchor="ctr"/>
          <a:lstStyle/>
          <a:p>
            <a:pPr algn="ctr" indent="0" marL="0">
              <a:buNone/>
            </a:pPr>
            <a:r>
              <a:rPr lang="en-US" sz="850" dirty="0">
                <a:solidFill>
                  <a:srgbClr val="8A9BBB"/>
                </a:solidFill>
                <a:latin typeface="Arial" pitchFamily="34" charset="0"/>
                <a:ea typeface="Arial" pitchFamily="34" charset="-122"/>
                <a:cs typeface="Arial" pitchFamily="34" charset="-120"/>
              </a:rPr>
              <a:t>of production-ready MVP code</a:t>
            </a:r>
            <a:endParaRPr lang="en-US" sz="850" dirty="0"/>
          </a:p>
        </p:txBody>
      </p:sp>
      <p:sp>
        <p:nvSpPr>
          <p:cNvPr id="9" name="Shape 7"/>
          <p:cNvSpPr/>
          <p:nvPr/>
        </p:nvSpPr>
        <p:spPr>
          <a:xfrm>
            <a:off x="3200400" y="1828800"/>
            <a:ext cx="2606040" cy="1188720"/>
          </a:xfrm>
          <a:prstGeom prst="roundRect">
            <a:avLst>
              <a:gd name="adj" fmla="val 923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10" name="Text 8"/>
          <p:cNvSpPr/>
          <p:nvPr/>
        </p:nvSpPr>
        <p:spPr>
          <a:xfrm>
            <a:off x="3291840" y="1892808"/>
            <a:ext cx="2423160" cy="548640"/>
          </a:xfrm>
          <a:prstGeom prst="rect">
            <a:avLst/>
          </a:prstGeom>
          <a:noFill/>
          <a:ln/>
        </p:spPr>
        <p:txBody>
          <a:bodyPr wrap="square" rtlCol="0" anchor="ctr"/>
          <a:lstStyle/>
          <a:p>
            <a:pPr algn="ctr" indent="0" marL="0">
              <a:buNone/>
            </a:pPr>
            <a:r>
              <a:rPr lang="en-US" sz="3200" b="1" dirty="0">
                <a:solidFill>
                  <a:srgbClr val="00D26A"/>
                </a:solidFill>
                <a:latin typeface="Arial" pitchFamily="34" charset="0"/>
                <a:ea typeface="Arial" pitchFamily="34" charset="-122"/>
                <a:cs typeface="Arial" pitchFamily="34" charset="-120"/>
              </a:rPr>
              <a:t>3</a:t>
            </a:r>
            <a:endParaRPr lang="en-US" sz="3200" dirty="0"/>
          </a:p>
        </p:txBody>
      </p:sp>
      <p:sp>
        <p:nvSpPr>
          <p:cNvPr id="11" name="Text 9"/>
          <p:cNvSpPr/>
          <p:nvPr/>
        </p:nvSpPr>
        <p:spPr>
          <a:xfrm>
            <a:off x="3291840" y="2423160"/>
            <a:ext cx="24231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verticals</a:t>
            </a:r>
            <a:endParaRPr lang="en-US" sz="1000" dirty="0"/>
          </a:p>
        </p:txBody>
      </p:sp>
      <p:sp>
        <p:nvSpPr>
          <p:cNvPr id="12" name="Text 10"/>
          <p:cNvSpPr/>
          <p:nvPr/>
        </p:nvSpPr>
        <p:spPr>
          <a:xfrm>
            <a:off x="3291840" y="2679192"/>
            <a:ext cx="2423160" cy="256032"/>
          </a:xfrm>
          <a:prstGeom prst="rect">
            <a:avLst/>
          </a:prstGeom>
          <a:noFill/>
          <a:ln/>
        </p:spPr>
        <p:txBody>
          <a:bodyPr wrap="square" rtlCol="0" anchor="ctr"/>
          <a:lstStyle/>
          <a:p>
            <a:pPr algn="ctr" indent="0" marL="0">
              <a:buNone/>
            </a:pPr>
            <a:r>
              <a:rPr lang="en-US" sz="850" dirty="0">
                <a:solidFill>
                  <a:srgbClr val="8A9BBB"/>
                </a:solidFill>
                <a:latin typeface="Arial" pitchFamily="34" charset="0"/>
                <a:ea typeface="Arial" pitchFamily="34" charset="-122"/>
                <a:cs typeface="Arial" pitchFamily="34" charset="-120"/>
              </a:rPr>
              <a:t>fully integrated in one platform</a:t>
            </a:r>
            <a:endParaRPr lang="en-US" sz="850" dirty="0"/>
          </a:p>
        </p:txBody>
      </p:sp>
      <p:sp>
        <p:nvSpPr>
          <p:cNvPr id="13" name="Shape 11"/>
          <p:cNvSpPr/>
          <p:nvPr/>
        </p:nvSpPr>
        <p:spPr>
          <a:xfrm>
            <a:off x="6035040" y="1828800"/>
            <a:ext cx="2606040" cy="1188720"/>
          </a:xfrm>
          <a:prstGeom prst="roundRect">
            <a:avLst>
              <a:gd name="adj" fmla="val 9231"/>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14" name="Text 12"/>
          <p:cNvSpPr/>
          <p:nvPr/>
        </p:nvSpPr>
        <p:spPr>
          <a:xfrm>
            <a:off x="6126480" y="1892808"/>
            <a:ext cx="2423160" cy="548640"/>
          </a:xfrm>
          <a:prstGeom prst="rect">
            <a:avLst/>
          </a:prstGeom>
          <a:noFill/>
          <a:ln/>
        </p:spPr>
        <p:txBody>
          <a:bodyPr wrap="square" rtlCol="0" anchor="ctr"/>
          <a:lstStyle/>
          <a:p>
            <a:pPr algn="ctr" indent="0" marL="0">
              <a:buNone/>
            </a:pPr>
            <a:r>
              <a:rPr lang="en-US" sz="3200" b="1" dirty="0">
                <a:solidFill>
                  <a:srgbClr val="00D26A"/>
                </a:solidFill>
                <a:latin typeface="Arial" pitchFamily="34" charset="0"/>
                <a:ea typeface="Arial" pitchFamily="34" charset="-122"/>
                <a:cs typeface="Arial" pitchFamily="34" charset="-120"/>
              </a:rPr>
              <a:t>100%</a:t>
            </a:r>
            <a:endParaRPr lang="en-US" sz="3200" dirty="0"/>
          </a:p>
        </p:txBody>
      </p:sp>
      <p:sp>
        <p:nvSpPr>
          <p:cNvPr id="15" name="Text 13"/>
          <p:cNvSpPr/>
          <p:nvPr/>
        </p:nvSpPr>
        <p:spPr>
          <a:xfrm>
            <a:off x="6126480" y="2423160"/>
            <a:ext cx="2423160" cy="274320"/>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solo</a:t>
            </a:r>
            <a:endParaRPr lang="en-US" sz="1000" dirty="0"/>
          </a:p>
        </p:txBody>
      </p:sp>
      <p:sp>
        <p:nvSpPr>
          <p:cNvPr id="16" name="Text 14"/>
          <p:cNvSpPr/>
          <p:nvPr/>
        </p:nvSpPr>
        <p:spPr>
          <a:xfrm>
            <a:off x="6126480" y="2679192"/>
            <a:ext cx="2423160" cy="256032"/>
          </a:xfrm>
          <a:prstGeom prst="rect">
            <a:avLst/>
          </a:prstGeom>
          <a:noFill/>
          <a:ln/>
        </p:spPr>
        <p:txBody>
          <a:bodyPr wrap="square" rtlCol="0" anchor="ctr"/>
          <a:lstStyle/>
          <a:p>
            <a:pPr algn="ctr" indent="0" marL="0">
              <a:buNone/>
            </a:pPr>
            <a:r>
              <a:rPr lang="en-US" sz="850" dirty="0">
                <a:solidFill>
                  <a:srgbClr val="8A9BBB"/>
                </a:solidFill>
                <a:latin typeface="Arial" pitchFamily="34" charset="0"/>
                <a:ea typeface="Arial" pitchFamily="34" charset="-122"/>
                <a:cs typeface="Arial" pitchFamily="34" charset="-120"/>
              </a:rPr>
              <a:t>built by a single founder using AI</a:t>
            </a:r>
            <a:endParaRPr lang="en-US" sz="850" dirty="0"/>
          </a:p>
        </p:txBody>
      </p:sp>
      <p:sp>
        <p:nvSpPr>
          <p:cNvPr id="17" name="Text 15"/>
          <p:cNvSpPr/>
          <p:nvPr/>
        </p:nvSpPr>
        <p:spPr>
          <a:xfrm>
            <a:off x="457200" y="3200400"/>
            <a:ext cx="8229600" cy="365760"/>
          </a:xfrm>
          <a:prstGeom prst="rect">
            <a:avLst/>
          </a:prstGeom>
          <a:noFill/>
          <a:ln/>
        </p:spPr>
        <p:txBody>
          <a:bodyPr wrap="square" rtlCol="0" anchor="ctr"/>
          <a:lstStyle/>
          <a:p>
            <a:pPr indent="0" marL="0">
              <a:buNone/>
            </a:pPr>
            <a:r>
              <a:rPr lang="en-US" sz="1300" b="1" dirty="0">
                <a:solidFill>
                  <a:srgbClr val="0B1628"/>
                </a:solidFill>
                <a:latin typeface="Arial" pitchFamily="34" charset="0"/>
                <a:ea typeface="Arial" pitchFamily="34" charset="-122"/>
                <a:cs typeface="Arial" pitchFamily="34" charset="-120"/>
              </a:rPr>
              <a:t>Why the Model Works</a:t>
            </a:r>
            <a:endParaRPr lang="en-US" sz="1300" dirty="0"/>
          </a:p>
        </p:txBody>
      </p:sp>
      <p:sp>
        <p:nvSpPr>
          <p:cNvPr id="18" name="Text 16"/>
          <p:cNvSpPr/>
          <p:nvPr/>
        </p:nvSpPr>
        <p:spPr>
          <a:xfrm>
            <a:off x="457200" y="3611880"/>
            <a:ext cx="8229600" cy="1280160"/>
          </a:xfrm>
          <a:prstGeom prst="rect">
            <a:avLst/>
          </a:prstGeom>
          <a:noFill/>
          <a:ln/>
        </p:spPr>
        <p:txBody>
          <a:bodyPr wrap="square" rtlCol="0" anchor="ctr"/>
          <a:lstStyle/>
          <a:p>
            <a:pPr marL="342900" indent="-342900">
              <a:spcAft>
                <a:spcPts val="800"/>
              </a:spcAft>
              <a:buSzPct val="100000"/>
              <a:buChar char="•"/>
            </a:pPr>
            <a:r>
              <a:rPr lang="en-US" sz="1150" dirty="0">
                <a:solidFill>
                  <a:srgbClr val="2D3748"/>
                </a:solidFill>
                <a:latin typeface="Arial" pitchFamily="34" charset="0"/>
                <a:ea typeface="Arial" pitchFamily="34" charset="-122"/>
                <a:cs typeface="Arial" pitchFamily="34" charset="-120"/>
              </a:rPr>
              <a:t>WeChat (China) &amp; Grab (SE Asia) prove the super-app model scales to 1B+ users in emerging markets.</a:t>
            </a:r>
            <a:endParaRPr lang="en-US" sz="1150" dirty="0"/>
          </a:p>
          <a:p>
            <a:pPr marL="342900" indent="-342900">
              <a:spcAft>
                <a:spcPts val="800"/>
              </a:spcAft>
              <a:buSzPct val="100000"/>
              <a:buChar char="•"/>
            </a:pPr>
            <a:r>
              <a:rPr lang="en-US" sz="1150" dirty="0">
                <a:solidFill>
                  <a:srgbClr val="2D3748"/>
                </a:solidFill>
                <a:latin typeface="Arial" pitchFamily="34" charset="0"/>
                <a:ea typeface="Arial" pitchFamily="34" charset="-122"/>
                <a:cs typeface="Arial" pitchFamily="34" charset="-120"/>
              </a:rPr>
              <a:t>M-Pesa proves Africans will adopt fintech deeply when it solves a real, local pain point.</a:t>
            </a:r>
            <a:endParaRPr lang="en-US" sz="1150" dirty="0"/>
          </a:p>
          <a:p>
            <a:pPr marL="342900" indent="-342900">
              <a:spcAft>
                <a:spcPts val="800"/>
              </a:spcAft>
              <a:buSzPct val="100000"/>
              <a:buChar char="•"/>
            </a:pPr>
            <a:r>
              <a:rPr lang="en-US" sz="1150" dirty="0">
                <a:solidFill>
                  <a:srgbClr val="2D3748"/>
                </a:solidFill>
                <a:latin typeface="Arial" pitchFamily="34" charset="0"/>
                <a:ea typeface="Arial" pitchFamily="34" charset="-122"/>
                <a:cs typeface="Arial" pitchFamily="34" charset="-120"/>
              </a:rPr>
              <a:t>South Africa has no dominant super-app — the market is wide open for a local-first player.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628"/>
        </a:solidFill>
      </p:bgPr>
    </p:bg>
    <p:spTree>
      <p:nvGrpSpPr>
        <p:cNvPr id="1" name=""/>
        <p:cNvGrpSpPr/>
        <p:nvPr/>
      </p:nvGrpSpPr>
      <p:grpSpPr>
        <a:xfrm>
          <a:off x="0" y="0"/>
          <a:ext cx="0" cy="0"/>
          <a:chOff x="0" y="0"/>
          <a:chExt cx="0" cy="0"/>
        </a:xfrm>
      </p:grpSpPr>
      <p:sp>
        <p:nvSpPr>
          <p:cNvPr id="2" name="Text 0"/>
          <p:cNvSpPr/>
          <p:nvPr/>
        </p:nvSpPr>
        <p:spPr>
          <a:xfrm>
            <a:off x="548640" y="274320"/>
            <a:ext cx="8229600" cy="347472"/>
          </a:xfrm>
          <a:prstGeom prst="rect">
            <a:avLst/>
          </a:prstGeom>
          <a:noFill/>
          <a:ln/>
        </p:spPr>
        <p:txBody>
          <a:bodyPr wrap="square" rtlCol="0" anchor="ctr"/>
          <a:lstStyle/>
          <a:p>
            <a:pPr indent="0" marL="0">
              <a:buNone/>
            </a:pPr>
            <a:r>
              <a:rPr lang="en-US" sz="1000" b="1" spc="400" kern="0" dirty="0">
                <a:solidFill>
                  <a:srgbClr val="00D26A"/>
                </a:solidFill>
                <a:latin typeface="Arial" pitchFamily="34" charset="0"/>
                <a:ea typeface="Arial" pitchFamily="34" charset="-122"/>
                <a:cs typeface="Arial" pitchFamily="34" charset="-120"/>
              </a:rPr>
              <a:t>COMPETITIVE ADVANTAGE</a:t>
            </a:r>
            <a:endParaRPr lang="en-US" sz="1000" dirty="0"/>
          </a:p>
        </p:txBody>
      </p:sp>
      <p:sp>
        <p:nvSpPr>
          <p:cNvPr id="3" name="Text 1"/>
          <p:cNvSpPr/>
          <p:nvPr/>
        </p:nvSpPr>
        <p:spPr>
          <a:xfrm>
            <a:off x="548640" y="685800"/>
            <a:ext cx="7315200" cy="64008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Our Moat Gets Stronger With Every User.</a:t>
            </a:r>
            <a:endParaRPr lang="en-US" sz="2800" dirty="0"/>
          </a:p>
        </p:txBody>
      </p:sp>
      <p:sp>
        <p:nvSpPr>
          <p:cNvPr id="4" name="Shape 2"/>
          <p:cNvSpPr/>
          <p:nvPr/>
        </p:nvSpPr>
        <p:spPr>
          <a:xfrm>
            <a:off x="457200" y="1508760"/>
            <a:ext cx="4023360" cy="3108960"/>
          </a:xfrm>
          <a:prstGeom prst="roundRect">
            <a:avLst>
              <a:gd name="adj" fmla="val 4412"/>
            </a:avLst>
          </a:prstGeom>
          <a:solidFill>
            <a:srgbClr val="1A2E4A"/>
          </a:solidFill>
          <a:ln w="19050">
            <a:solidFill>
              <a:srgbClr val="00D26A"/>
            </a:solidFill>
            <a:prstDash val="solid"/>
          </a:ln>
          <a:effectLst>
            <a:outerShdw sx="100000" sy="100000" kx="0" ky="0" algn="bl" rotWithShape="0" blurRad="101600" dist="38100" dir="27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731520" y="1737360"/>
            <a:ext cx="594360" cy="594360"/>
          </a:xfrm>
          <a:prstGeom prst="rect">
            <a:avLst/>
          </a:prstGeom>
        </p:spPr>
      </p:pic>
      <p:sp>
        <p:nvSpPr>
          <p:cNvPr id="6" name="Text 3"/>
          <p:cNvSpPr/>
          <p:nvPr/>
        </p:nvSpPr>
        <p:spPr>
          <a:xfrm>
            <a:off x="685800" y="2395728"/>
            <a:ext cx="356616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Network Effects</a:t>
            </a:r>
            <a:endParaRPr lang="en-US" sz="1600" dirty="0"/>
          </a:p>
        </p:txBody>
      </p:sp>
      <p:sp>
        <p:nvSpPr>
          <p:cNvPr id="7" name="Text 4"/>
          <p:cNvSpPr/>
          <p:nvPr/>
        </p:nvSpPr>
        <p:spPr>
          <a:xfrm>
            <a:off x="685800" y="2907792"/>
            <a:ext cx="3566160" cy="1572768"/>
          </a:xfrm>
          <a:prstGeom prst="rect">
            <a:avLst/>
          </a:prstGeom>
          <a:noFill/>
          <a:ln/>
        </p:spPr>
        <p:txBody>
          <a:bodyPr wrap="square" rtlCol="0" anchor="ctr"/>
          <a:lstStyle/>
          <a:p>
            <a:pPr indent="0" marL="0">
              <a:buNone/>
            </a:pPr>
            <a:r>
              <a:rPr lang="en-US" sz="1100" dirty="0">
                <a:solidFill>
                  <a:srgbClr val="8A9BBB"/>
                </a:solidFill>
                <a:latin typeface="Arial" pitchFamily="34" charset="0"/>
                <a:ea typeface="Arial" pitchFamily="34" charset="-122"/>
                <a:cs typeface="Arial" pitchFamily="34" charset="-120"/>
              </a:rPr>
              <a:t>Once a campus or neighbourhood adopts Connex for daily communication and safety, switching costs become insurmountable. Each new user makes the network more valuable for everyone else. This is the same flywheel that made WhatsApp untouchable.</a:t>
            </a:r>
            <a:endParaRPr lang="en-US" sz="1100" dirty="0"/>
          </a:p>
        </p:txBody>
      </p:sp>
      <p:sp>
        <p:nvSpPr>
          <p:cNvPr id="8" name="Shape 5"/>
          <p:cNvSpPr/>
          <p:nvPr/>
        </p:nvSpPr>
        <p:spPr>
          <a:xfrm>
            <a:off x="4846320" y="1508760"/>
            <a:ext cx="4023360" cy="3108960"/>
          </a:xfrm>
          <a:prstGeom prst="roundRect">
            <a:avLst>
              <a:gd name="adj" fmla="val 4412"/>
            </a:avLst>
          </a:prstGeom>
          <a:solidFill>
            <a:srgbClr val="1A2E4A"/>
          </a:solidFill>
          <a:ln w="19050">
            <a:solidFill>
              <a:srgbClr val="FBBF24"/>
            </a:solidFill>
            <a:prstDash val="solid"/>
          </a:ln>
          <a:effectLst>
            <a:outerShdw sx="100000" sy="100000" kx="0" ky="0" algn="bl" rotWithShape="0" blurRad="101600" dist="38100" dir="2700000">
              <a:srgbClr val="000000">
                <a:alpha val="18000"/>
              </a:srgbClr>
            </a:outerShdw>
          </a:effectLst>
        </p:spPr>
      </p:sp>
      <p:pic>
        <p:nvPicPr>
          <p:cNvPr id="9" name="Image 1" descr="preencoded.png">    </p:cNvPr>
          <p:cNvPicPr>
            <a:picLocks noChangeAspect="1"/>
          </p:cNvPicPr>
          <p:nvPr/>
        </p:nvPicPr>
        <p:blipFill>
          <a:blip r:embed="rId2"/>
          <a:stretch>
            <a:fillRect/>
          </a:stretch>
        </p:blipFill>
        <p:spPr>
          <a:xfrm>
            <a:off x="5120640" y="1737360"/>
            <a:ext cx="594360" cy="594360"/>
          </a:xfrm>
          <a:prstGeom prst="rect">
            <a:avLst/>
          </a:prstGeom>
        </p:spPr>
      </p:pic>
      <p:sp>
        <p:nvSpPr>
          <p:cNvPr id="10" name="Text 6"/>
          <p:cNvSpPr/>
          <p:nvPr/>
        </p:nvSpPr>
        <p:spPr>
          <a:xfrm>
            <a:off x="5074920" y="2395728"/>
            <a:ext cx="356616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Proprietary Codebase &amp; Speed</a:t>
            </a:r>
            <a:endParaRPr lang="en-US" sz="1600" dirty="0"/>
          </a:p>
        </p:txBody>
      </p:sp>
      <p:sp>
        <p:nvSpPr>
          <p:cNvPr id="11" name="Text 7"/>
          <p:cNvSpPr/>
          <p:nvPr/>
        </p:nvSpPr>
        <p:spPr>
          <a:xfrm>
            <a:off x="5074920" y="2907792"/>
            <a:ext cx="3566160" cy="1572768"/>
          </a:xfrm>
          <a:prstGeom prst="rect">
            <a:avLst/>
          </a:prstGeom>
          <a:noFill/>
          <a:ln/>
        </p:spPr>
        <p:txBody>
          <a:bodyPr wrap="square" rtlCol="0" anchor="ctr"/>
          <a:lstStyle/>
          <a:p>
            <a:pPr indent="0" marL="0">
              <a:buNone/>
            </a:pPr>
            <a:r>
              <a:rPr lang="en-US" sz="1100" dirty="0">
                <a:solidFill>
                  <a:srgbClr val="8A9BBB"/>
                </a:solidFill>
                <a:latin typeface="Arial" pitchFamily="34" charset="0"/>
                <a:ea typeface="Arial" pitchFamily="34" charset="-122"/>
                <a:cs typeface="Arial" pitchFamily="34" charset="-120"/>
              </a:rPr>
              <a:t>Our 39,000-line codebase handles concurrent real-time data across three distinct verticals simultaneously. No competitor can replicate this without months and millions. And we iterate based on local feedback in hours, not weeks.</a:t>
            </a:r>
            <a:endParaRPr lang="en-US" sz="1100" dirty="0"/>
          </a:p>
        </p:txBody>
      </p:sp>
      <p:sp>
        <p:nvSpPr>
          <p:cNvPr id="12" name="Shape 8"/>
          <p:cNvSpPr/>
          <p:nvPr/>
        </p:nvSpPr>
        <p:spPr>
          <a:xfrm>
            <a:off x="457200" y="4617720"/>
            <a:ext cx="8229600" cy="365760"/>
          </a:xfrm>
          <a:prstGeom prst="roundRect">
            <a:avLst>
              <a:gd name="adj" fmla="val 20000"/>
            </a:avLst>
          </a:prstGeom>
          <a:solidFill>
            <a:srgbClr val="00D26A">
              <a:alpha val="12000"/>
            </a:srgbClr>
          </a:solidFill>
          <a:ln w="12700">
            <a:solidFill>
              <a:srgbClr val="00D26A"/>
            </a:solidFill>
            <a:prstDash val="solid"/>
          </a:ln>
        </p:spPr>
      </p:sp>
      <p:sp>
        <p:nvSpPr>
          <p:cNvPr id="13" name="Text 9"/>
          <p:cNvSpPr/>
          <p:nvPr/>
        </p:nvSpPr>
        <p:spPr>
          <a:xfrm>
            <a:off x="548640" y="4636008"/>
            <a:ext cx="8046720" cy="329184"/>
          </a:xfrm>
          <a:prstGeom prst="rect">
            <a:avLst/>
          </a:prstGeom>
          <a:noFill/>
          <a:ln/>
        </p:spPr>
        <p:txBody>
          <a:bodyPr wrap="square" rtlCol="0" anchor="ctr"/>
          <a:lstStyle/>
          <a:p>
            <a:pPr algn="ctr" indent="0" marL="0">
              <a:buNone/>
            </a:pPr>
            <a:r>
              <a:rPr lang="en-US" sz="1050" b="1" dirty="0">
                <a:solidFill>
                  <a:srgbClr val="00D26A"/>
                </a:solidFill>
                <a:latin typeface="Arial" pitchFamily="34" charset="0"/>
                <a:ea typeface="Arial" pitchFamily="34" charset="-122"/>
                <a:cs typeface="Arial" pitchFamily="34" charset="-120"/>
              </a:rPr>
              <a:t>First-mover advantage in a 40M+ user market with zero dominant local super-app competitor.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5FF"/>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B1628"/>
          </a:solidFill>
          <a:ln w="12700">
            <a:solidFill>
              <a:srgbClr val="0B1628"/>
            </a:solidFill>
            <a:prstDash val="solid"/>
          </a:ln>
        </p:spPr>
      </p:sp>
      <p:sp>
        <p:nvSpPr>
          <p:cNvPr id="3" name="Text 1"/>
          <p:cNvSpPr/>
          <p:nvPr/>
        </p:nvSpPr>
        <p:spPr>
          <a:xfrm>
            <a:off x="457200" y="91440"/>
            <a:ext cx="8229600" cy="822960"/>
          </a:xfrm>
          <a:prstGeom prst="rect">
            <a:avLst/>
          </a:prstGeom>
          <a:noFill/>
          <a:ln/>
        </p:spPr>
        <p:txBody>
          <a:bodyPr wrap="square" rtlCol="0" anchor="ctr"/>
          <a:lstStyle/>
          <a:p>
            <a:pPr indent="0" marL="0">
              <a:buNone/>
            </a:pPr>
            <a:r>
              <a:rPr lang="en-US" sz="1100" b="1" spc="400" kern="0" dirty="0">
                <a:solidFill>
                  <a:srgbClr val="00D26A"/>
                </a:solidFill>
                <a:latin typeface="Arial" pitchFamily="34" charset="0"/>
                <a:ea typeface="Arial" pitchFamily="34" charset="-122"/>
                <a:cs typeface="Arial" pitchFamily="34" charset="-120"/>
              </a:rPr>
              <a:t>THE TEAM</a:t>
            </a:r>
            <a:endParaRPr lang="en-US" sz="1100" dirty="0"/>
          </a:p>
        </p:txBody>
      </p:sp>
      <p:sp>
        <p:nvSpPr>
          <p:cNvPr id="4" name="Text 2"/>
          <p:cNvSpPr/>
          <p:nvPr/>
        </p:nvSpPr>
        <p:spPr>
          <a:xfrm>
            <a:off x="457200" y="1097280"/>
            <a:ext cx="8229600" cy="594360"/>
          </a:xfrm>
          <a:prstGeom prst="rect">
            <a:avLst/>
          </a:prstGeom>
          <a:noFill/>
          <a:ln/>
        </p:spPr>
        <p:txBody>
          <a:bodyPr wrap="square" rtlCol="0" anchor="ctr"/>
          <a:lstStyle/>
          <a:p>
            <a:pPr indent="0" marL="0">
              <a:buNone/>
            </a:pPr>
            <a:r>
              <a:rPr lang="en-US" sz="2400" b="1" dirty="0">
                <a:solidFill>
                  <a:srgbClr val="0B1628"/>
                </a:solidFill>
                <a:latin typeface="Arial" pitchFamily="34" charset="0"/>
                <a:ea typeface="Arial" pitchFamily="34" charset="-122"/>
                <a:cs typeface="Arial" pitchFamily="34" charset="-120"/>
              </a:rPr>
              <a:t>Extreme Resourcefulness. Rare Execution Power.</a:t>
            </a:r>
            <a:endParaRPr lang="en-US" sz="2400" dirty="0"/>
          </a:p>
        </p:txBody>
      </p:sp>
      <p:sp>
        <p:nvSpPr>
          <p:cNvPr id="5" name="Shape 3"/>
          <p:cNvSpPr/>
          <p:nvPr/>
        </p:nvSpPr>
        <p:spPr>
          <a:xfrm>
            <a:off x="457200" y="1828800"/>
            <a:ext cx="8229600" cy="1325880"/>
          </a:xfrm>
          <a:prstGeom prst="roundRect">
            <a:avLst>
              <a:gd name="adj" fmla="val 10345"/>
            </a:avLst>
          </a:prstGeom>
          <a:solidFill>
            <a:srgbClr val="0B1628"/>
          </a:solidFill>
          <a:ln w="19050">
            <a:solidFill>
              <a:srgbClr val="00D26A"/>
            </a:solidFill>
            <a:prstDash val="solid"/>
          </a:ln>
          <a:effectLst>
            <a:outerShdw sx="100000" sy="100000" kx="0" ky="0" algn="bl" rotWithShape="0" blurRad="101600" dist="38100" dir="2700000">
              <a:srgbClr val="000000">
                <a:alpha val="18000"/>
              </a:srgbClr>
            </a:outerShdw>
          </a:effectLst>
        </p:spPr>
      </p:sp>
      <p:pic>
        <p:nvPicPr>
          <p:cNvPr id="6" name="Image 0" descr="preencoded.png">    </p:cNvPr>
          <p:cNvPicPr>
            <a:picLocks noChangeAspect="1"/>
          </p:cNvPicPr>
          <p:nvPr/>
        </p:nvPicPr>
        <p:blipFill>
          <a:blip r:embed="rId1"/>
          <a:stretch>
            <a:fillRect/>
          </a:stretch>
        </p:blipFill>
        <p:spPr>
          <a:xfrm>
            <a:off x="685800" y="2103120"/>
            <a:ext cx="548640" cy="548640"/>
          </a:xfrm>
          <a:prstGeom prst="rect">
            <a:avLst/>
          </a:prstGeom>
        </p:spPr>
      </p:pic>
      <p:sp>
        <p:nvSpPr>
          <p:cNvPr id="7" name="Text 4"/>
          <p:cNvSpPr/>
          <p:nvPr/>
        </p:nvSpPr>
        <p:spPr>
          <a:xfrm>
            <a:off x="1371600" y="1901952"/>
            <a:ext cx="6858000" cy="36576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Solo Founder — South Africa</a:t>
            </a:r>
            <a:endParaRPr lang="en-US" sz="1400" dirty="0"/>
          </a:p>
        </p:txBody>
      </p:sp>
      <p:sp>
        <p:nvSpPr>
          <p:cNvPr id="8" name="Text 5"/>
          <p:cNvSpPr/>
          <p:nvPr/>
        </p:nvSpPr>
        <p:spPr>
          <a:xfrm>
            <a:off x="1371600" y="2286000"/>
            <a:ext cx="6949440" cy="777240"/>
          </a:xfrm>
          <a:prstGeom prst="rect">
            <a:avLst/>
          </a:prstGeom>
          <a:noFill/>
          <a:ln/>
        </p:spPr>
        <p:txBody>
          <a:bodyPr wrap="square" rtlCol="0" anchor="ctr"/>
          <a:lstStyle/>
          <a:p>
            <a:pPr indent="0" marL="0">
              <a:buNone/>
            </a:pPr>
            <a:r>
              <a:rPr lang="en-US" sz="1100" dirty="0">
                <a:solidFill>
                  <a:srgbClr val="8A9BBB"/>
                </a:solidFill>
                <a:latin typeface="Arial" pitchFamily="34" charset="0"/>
                <a:ea typeface="Arial" pitchFamily="34" charset="-122"/>
                <a:cs typeface="Arial" pitchFamily="34" charset="-120"/>
              </a:rPr>
              <a:t>Non-technical background. Leveraged AI-driven development to architect and ship a 39,000-line, production-ready platform. Can output the work of a 5-person engineering team at a fraction of the cost. Iterates in hours, not weeks.</a:t>
            </a:r>
            <a:endParaRPr lang="en-US" sz="1100" dirty="0"/>
          </a:p>
        </p:txBody>
      </p:sp>
      <p:sp>
        <p:nvSpPr>
          <p:cNvPr id="9" name="Text 6"/>
          <p:cNvSpPr/>
          <p:nvPr/>
        </p:nvSpPr>
        <p:spPr>
          <a:xfrm>
            <a:off x="457200" y="3291840"/>
            <a:ext cx="8229600" cy="347472"/>
          </a:xfrm>
          <a:prstGeom prst="rect">
            <a:avLst/>
          </a:prstGeom>
          <a:noFill/>
          <a:ln/>
        </p:spPr>
        <p:txBody>
          <a:bodyPr wrap="square" rtlCol="0" anchor="ctr"/>
          <a:lstStyle/>
          <a:p>
            <a:pPr indent="0" marL="0">
              <a:buNone/>
            </a:pPr>
            <a:r>
              <a:rPr lang="en-US" sz="1200" b="1" dirty="0">
                <a:solidFill>
                  <a:srgbClr val="0B1628"/>
                </a:solidFill>
                <a:latin typeface="Arial" pitchFamily="34" charset="0"/>
                <a:ea typeface="Arial" pitchFamily="34" charset="-122"/>
                <a:cs typeface="Arial" pitchFamily="34" charset="-120"/>
              </a:rPr>
              <a:t>Founder Superpowers</a:t>
            </a:r>
            <a:endParaRPr lang="en-US" sz="1200" dirty="0"/>
          </a:p>
        </p:txBody>
      </p:sp>
      <p:sp>
        <p:nvSpPr>
          <p:cNvPr id="10" name="Shape 7"/>
          <p:cNvSpPr/>
          <p:nvPr/>
        </p:nvSpPr>
        <p:spPr>
          <a:xfrm>
            <a:off x="457200" y="3703320"/>
            <a:ext cx="3977640" cy="502920"/>
          </a:xfrm>
          <a:prstGeom prst="roundRect">
            <a:avLst>
              <a:gd name="adj" fmla="val 14545"/>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1" name="Text 8"/>
          <p:cNvSpPr/>
          <p:nvPr/>
        </p:nvSpPr>
        <p:spPr>
          <a:xfrm>
            <a:off x="594360" y="3758184"/>
            <a:ext cx="3657600" cy="384048"/>
          </a:xfrm>
          <a:prstGeom prst="rect">
            <a:avLst/>
          </a:prstGeom>
          <a:noFill/>
          <a:ln/>
        </p:spPr>
        <p:txBody>
          <a:bodyPr wrap="square" rtlCol="0" anchor="ctr"/>
          <a:lstStyle/>
          <a:p>
            <a:pPr indent="0" marL="0">
              <a:buNone/>
            </a:pPr>
            <a:r>
              <a:rPr lang="en-US" sz="1050" dirty="0">
                <a:solidFill>
                  <a:srgbClr val="0B1628"/>
                </a:solidFill>
                <a:latin typeface="Arial" pitchFamily="34" charset="0"/>
                <a:ea typeface="Arial" pitchFamily="34" charset="-122"/>
                <a:cs typeface="Arial" pitchFamily="34" charset="-120"/>
              </a:rPr>
              <a:t>⚡  Zero-to-MVP Without Engineering Headcount</a:t>
            </a:r>
            <a:endParaRPr lang="en-US" sz="1050" dirty="0"/>
          </a:p>
        </p:txBody>
      </p:sp>
      <p:sp>
        <p:nvSpPr>
          <p:cNvPr id="12" name="Shape 9"/>
          <p:cNvSpPr/>
          <p:nvPr/>
        </p:nvSpPr>
        <p:spPr>
          <a:xfrm>
            <a:off x="4663440" y="3703320"/>
            <a:ext cx="3977640" cy="502920"/>
          </a:xfrm>
          <a:prstGeom prst="roundRect">
            <a:avLst>
              <a:gd name="adj" fmla="val 14545"/>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3" name="Text 10"/>
          <p:cNvSpPr/>
          <p:nvPr/>
        </p:nvSpPr>
        <p:spPr>
          <a:xfrm>
            <a:off x="4800600" y="3758184"/>
            <a:ext cx="3657600" cy="384048"/>
          </a:xfrm>
          <a:prstGeom prst="rect">
            <a:avLst/>
          </a:prstGeom>
          <a:noFill/>
          <a:ln/>
        </p:spPr>
        <p:txBody>
          <a:bodyPr wrap="square" rtlCol="0" anchor="ctr"/>
          <a:lstStyle/>
          <a:p>
            <a:pPr indent="0" marL="0">
              <a:buNone/>
            </a:pPr>
            <a:r>
              <a:rPr lang="en-US" sz="1050" dirty="0">
                <a:solidFill>
                  <a:srgbClr val="0B1628"/>
                </a:solidFill>
                <a:latin typeface="Arial" pitchFamily="34" charset="0"/>
                <a:ea typeface="Arial" pitchFamily="34" charset="-122"/>
                <a:cs typeface="Arial" pitchFamily="34" charset="-120"/>
              </a:rPr>
              <a:t>🎯  Deep Understanding of Local User Behaviour</a:t>
            </a:r>
            <a:endParaRPr lang="en-US" sz="1050" dirty="0"/>
          </a:p>
        </p:txBody>
      </p:sp>
      <p:sp>
        <p:nvSpPr>
          <p:cNvPr id="14" name="Shape 11"/>
          <p:cNvSpPr/>
          <p:nvPr/>
        </p:nvSpPr>
        <p:spPr>
          <a:xfrm>
            <a:off x="457200" y="4325112"/>
            <a:ext cx="3977640" cy="502920"/>
          </a:xfrm>
          <a:prstGeom prst="roundRect">
            <a:avLst>
              <a:gd name="adj" fmla="val 14545"/>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5" name="Text 12"/>
          <p:cNvSpPr/>
          <p:nvPr/>
        </p:nvSpPr>
        <p:spPr>
          <a:xfrm>
            <a:off x="594360" y="4379976"/>
            <a:ext cx="3657600" cy="384048"/>
          </a:xfrm>
          <a:prstGeom prst="rect">
            <a:avLst/>
          </a:prstGeom>
          <a:noFill/>
          <a:ln/>
        </p:spPr>
        <p:txBody>
          <a:bodyPr wrap="square" rtlCol="0" anchor="ctr"/>
          <a:lstStyle/>
          <a:p>
            <a:pPr indent="0" marL="0">
              <a:buNone/>
            </a:pPr>
            <a:r>
              <a:rPr lang="en-US" sz="1050" dirty="0">
                <a:solidFill>
                  <a:srgbClr val="0B1628"/>
                </a:solidFill>
                <a:latin typeface="Arial" pitchFamily="34" charset="0"/>
                <a:ea typeface="Arial" pitchFamily="34" charset="-122"/>
                <a:cs typeface="Arial" pitchFamily="34" charset="-120"/>
              </a:rPr>
              <a:t>🔄  Sub-24hr Product Iteration Cycle</a:t>
            </a:r>
            <a:endParaRPr lang="en-US" sz="1050" dirty="0"/>
          </a:p>
        </p:txBody>
      </p:sp>
      <p:sp>
        <p:nvSpPr>
          <p:cNvPr id="16" name="Shape 13"/>
          <p:cNvSpPr/>
          <p:nvPr/>
        </p:nvSpPr>
        <p:spPr>
          <a:xfrm>
            <a:off x="4663440" y="4325112"/>
            <a:ext cx="3977640" cy="502920"/>
          </a:xfrm>
          <a:prstGeom prst="roundRect">
            <a:avLst>
              <a:gd name="adj" fmla="val 14545"/>
            </a:avLst>
          </a:prstGeom>
          <a:solidFill>
            <a:srgbClr val="FFFFFF"/>
          </a:solidFill>
          <a:ln w="12700">
            <a:solidFill>
              <a:srgbClr val="E2E8F0"/>
            </a:solidFill>
            <a:prstDash val="solid"/>
          </a:ln>
          <a:effectLst>
            <a:outerShdw sx="100000" sy="100000" kx="0" ky="0" algn="bl" rotWithShape="0" blurRad="101600" dist="38100" dir="2700000">
              <a:srgbClr val="000000">
                <a:alpha val="18000"/>
              </a:srgbClr>
            </a:outerShdw>
          </a:effectLst>
        </p:spPr>
      </p:sp>
      <p:sp>
        <p:nvSpPr>
          <p:cNvPr id="17" name="Text 14"/>
          <p:cNvSpPr/>
          <p:nvPr/>
        </p:nvSpPr>
        <p:spPr>
          <a:xfrm>
            <a:off x="4800600" y="4379976"/>
            <a:ext cx="3657600" cy="384048"/>
          </a:xfrm>
          <a:prstGeom prst="rect">
            <a:avLst/>
          </a:prstGeom>
          <a:noFill/>
          <a:ln/>
        </p:spPr>
        <p:txBody>
          <a:bodyPr wrap="square" rtlCol="0" anchor="ctr"/>
          <a:lstStyle/>
          <a:p>
            <a:pPr indent="0" marL="0">
              <a:buNone/>
            </a:pPr>
            <a:r>
              <a:rPr lang="en-US" sz="1050" dirty="0">
                <a:solidFill>
                  <a:srgbClr val="0B1628"/>
                </a:solidFill>
                <a:latin typeface="Arial" pitchFamily="34" charset="0"/>
                <a:ea typeface="Arial" pitchFamily="34" charset="-122"/>
                <a:cs typeface="Arial" pitchFamily="34" charset="-120"/>
              </a:rPr>
              <a:t>🛡️  Frugal by Design — Every Rand is Accountable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628"/>
        </a:solidFill>
      </p:bgPr>
    </p:bg>
    <p:spTree>
      <p:nvGrpSpPr>
        <p:cNvPr id="1" name=""/>
        <p:cNvGrpSpPr/>
        <p:nvPr/>
      </p:nvGrpSpPr>
      <p:grpSpPr>
        <a:xfrm>
          <a:off x="0" y="0"/>
          <a:ext cx="0" cy="0"/>
          <a:chOff x="0" y="0"/>
          <a:chExt cx="0" cy="0"/>
        </a:xfrm>
      </p:grpSpPr>
      <p:sp>
        <p:nvSpPr>
          <p:cNvPr id="2" name="Text 0"/>
          <p:cNvSpPr/>
          <p:nvPr/>
        </p:nvSpPr>
        <p:spPr>
          <a:xfrm>
            <a:off x="548640" y="274320"/>
            <a:ext cx="8229600" cy="347472"/>
          </a:xfrm>
          <a:prstGeom prst="rect">
            <a:avLst/>
          </a:prstGeom>
          <a:noFill/>
          <a:ln/>
        </p:spPr>
        <p:txBody>
          <a:bodyPr wrap="square" rtlCol="0" anchor="ctr"/>
          <a:lstStyle/>
          <a:p>
            <a:pPr indent="0" marL="0">
              <a:buNone/>
            </a:pPr>
            <a:r>
              <a:rPr lang="en-US" sz="1000" b="1" spc="400" kern="0" dirty="0">
                <a:solidFill>
                  <a:srgbClr val="00D26A"/>
                </a:solidFill>
                <a:latin typeface="Arial" pitchFamily="34" charset="0"/>
                <a:ea typeface="Arial" pitchFamily="34" charset="-122"/>
                <a:cs typeface="Arial" pitchFamily="34" charset="-120"/>
              </a:rPr>
              <a:t>ROADMAP</a:t>
            </a:r>
            <a:endParaRPr lang="en-US" sz="1000" dirty="0"/>
          </a:p>
        </p:txBody>
      </p:sp>
      <p:sp>
        <p:nvSpPr>
          <p:cNvPr id="3" name="Text 1"/>
          <p:cNvSpPr/>
          <p:nvPr/>
        </p:nvSpPr>
        <p:spPr>
          <a:xfrm>
            <a:off x="548640" y="685800"/>
            <a:ext cx="7315200" cy="59436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12 Months. 4 Phases. Zero Fluff.</a:t>
            </a:r>
            <a:endParaRPr lang="en-US" sz="2800" dirty="0"/>
          </a:p>
        </p:txBody>
      </p:sp>
      <p:sp>
        <p:nvSpPr>
          <p:cNvPr id="4" name="Shape 2"/>
          <p:cNvSpPr/>
          <p:nvPr/>
        </p:nvSpPr>
        <p:spPr>
          <a:xfrm>
            <a:off x="365760" y="1463040"/>
            <a:ext cx="2011680" cy="3383280"/>
          </a:xfrm>
          <a:prstGeom prst="roundRect">
            <a:avLst>
              <a:gd name="adj" fmla="val 5455"/>
            </a:avLst>
          </a:prstGeom>
          <a:solidFill>
            <a:srgbClr val="1A2E4A"/>
          </a:solidFill>
          <a:ln w="19050">
            <a:solidFill>
              <a:srgbClr val="00D26A"/>
            </a:solidFill>
            <a:prstDash val="solid"/>
          </a:ln>
          <a:effectLst>
            <a:outerShdw sx="100000" sy="100000" kx="0" ky="0" algn="bl" rotWithShape="0" blurRad="101600" dist="38100" dir="2700000">
              <a:srgbClr val="000000">
                <a:alpha val="18000"/>
              </a:srgbClr>
            </a:outerShdw>
          </a:effectLst>
        </p:spPr>
      </p:sp>
      <p:sp>
        <p:nvSpPr>
          <p:cNvPr id="5" name="Shape 3"/>
          <p:cNvSpPr/>
          <p:nvPr/>
        </p:nvSpPr>
        <p:spPr>
          <a:xfrm>
            <a:off x="502920" y="1600200"/>
            <a:ext cx="1737360" cy="310896"/>
          </a:xfrm>
          <a:prstGeom prst="roundRect">
            <a:avLst>
              <a:gd name="adj" fmla="val 23529"/>
            </a:avLst>
          </a:prstGeom>
          <a:solidFill>
            <a:srgbClr val="00D26A">
              <a:alpha val="85000"/>
            </a:srgbClr>
          </a:solidFill>
          <a:ln w="12700">
            <a:solidFill>
              <a:srgbClr val="00D26A"/>
            </a:solidFill>
            <a:prstDash val="solid"/>
          </a:ln>
        </p:spPr>
      </p:sp>
      <p:sp>
        <p:nvSpPr>
          <p:cNvPr id="6" name="Text 4"/>
          <p:cNvSpPr/>
          <p:nvPr/>
        </p:nvSpPr>
        <p:spPr>
          <a:xfrm>
            <a:off x="502920" y="1581912"/>
            <a:ext cx="1737360" cy="329184"/>
          </a:xfrm>
          <a:prstGeom prst="rect">
            <a:avLst/>
          </a:prstGeom>
          <a:noFill/>
          <a:ln/>
        </p:spPr>
        <p:txBody>
          <a:bodyPr wrap="square" rtlCol="0" anchor="ctr"/>
          <a:lstStyle/>
          <a:p>
            <a:pPr algn="ctr" indent="0" marL="0">
              <a:buNone/>
            </a:pPr>
            <a:r>
              <a:rPr lang="en-US" sz="850" b="1" dirty="0">
                <a:solidFill>
                  <a:srgbClr val="00D26A"/>
                </a:solidFill>
                <a:latin typeface="Arial" pitchFamily="34" charset="0"/>
                <a:ea typeface="Arial" pitchFamily="34" charset="-122"/>
                <a:cs typeface="Arial" pitchFamily="34" charset="-120"/>
              </a:rPr>
              <a:t>PHASE 1</a:t>
            </a:r>
            <a:endParaRPr lang="en-US" sz="850" dirty="0"/>
          </a:p>
        </p:txBody>
      </p:sp>
      <p:sp>
        <p:nvSpPr>
          <p:cNvPr id="7" name="Text 5"/>
          <p:cNvSpPr/>
          <p:nvPr/>
        </p:nvSpPr>
        <p:spPr>
          <a:xfrm>
            <a:off x="475488" y="1984248"/>
            <a:ext cx="1792224" cy="274320"/>
          </a:xfrm>
          <a:prstGeom prst="rect">
            <a:avLst/>
          </a:prstGeom>
          <a:noFill/>
          <a:ln/>
        </p:spPr>
        <p:txBody>
          <a:bodyPr wrap="square" rtlCol="0" anchor="ctr"/>
          <a:lstStyle/>
          <a:p>
            <a:pPr algn="ctr" indent="0" marL="0">
              <a:buNone/>
            </a:pPr>
            <a:r>
              <a:rPr lang="en-US" sz="900" dirty="0">
                <a:solidFill>
                  <a:srgbClr val="8A9BBB"/>
                </a:solidFill>
                <a:latin typeface="Arial" pitchFamily="34" charset="0"/>
                <a:ea typeface="Arial" pitchFamily="34" charset="-122"/>
                <a:cs typeface="Arial" pitchFamily="34" charset="-120"/>
              </a:rPr>
              <a:t>Months 1–3</a:t>
            </a:r>
            <a:endParaRPr lang="en-US" sz="900" dirty="0"/>
          </a:p>
        </p:txBody>
      </p:sp>
      <p:sp>
        <p:nvSpPr>
          <p:cNvPr id="8" name="Text 6"/>
          <p:cNvSpPr/>
          <p:nvPr/>
        </p:nvSpPr>
        <p:spPr>
          <a:xfrm>
            <a:off x="475488" y="2267712"/>
            <a:ext cx="1810512" cy="512064"/>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Close Beta &amp; Stabilise</a:t>
            </a:r>
            <a:endParaRPr lang="en-US" sz="1100" dirty="0"/>
          </a:p>
        </p:txBody>
      </p:sp>
      <p:sp>
        <p:nvSpPr>
          <p:cNvPr id="9" name="Text 7"/>
          <p:cNvSpPr/>
          <p:nvPr/>
        </p:nvSpPr>
        <p:spPr>
          <a:xfrm>
            <a:off x="512064" y="2834640"/>
            <a:ext cx="1737360" cy="1828800"/>
          </a:xfrm>
          <a:prstGeom prst="rect">
            <a:avLst/>
          </a:prstGeom>
          <a:noFill/>
          <a:ln/>
        </p:spPr>
        <p:txBody>
          <a:bodyPr wrap="square" rtlCol="0" anchor="ctr"/>
          <a:lstStyle/>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Closed beta testing with early adopter communities</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Stabilise infrastructure &amp; fix feedback</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Hire GTM Lead</a:t>
            </a:r>
            <a:endParaRPr lang="en-US" sz="900" dirty="0"/>
          </a:p>
        </p:txBody>
      </p:sp>
      <p:sp>
        <p:nvSpPr>
          <p:cNvPr id="10" name="Shape 8"/>
          <p:cNvSpPr/>
          <p:nvPr/>
        </p:nvSpPr>
        <p:spPr>
          <a:xfrm>
            <a:off x="2514600" y="1463040"/>
            <a:ext cx="2011680" cy="3383280"/>
          </a:xfrm>
          <a:prstGeom prst="roundRect">
            <a:avLst>
              <a:gd name="adj" fmla="val 5455"/>
            </a:avLst>
          </a:prstGeom>
          <a:solidFill>
            <a:srgbClr val="1A2E4A"/>
          </a:solidFill>
          <a:ln w="19050">
            <a:solidFill>
              <a:srgbClr val="60A5FA"/>
            </a:solidFill>
            <a:prstDash val="solid"/>
          </a:ln>
          <a:effectLst>
            <a:outerShdw sx="100000" sy="100000" kx="0" ky="0" algn="bl" rotWithShape="0" blurRad="101600" dist="38100" dir="2700000">
              <a:srgbClr val="000000">
                <a:alpha val="18000"/>
              </a:srgbClr>
            </a:outerShdw>
          </a:effectLst>
        </p:spPr>
      </p:sp>
      <p:sp>
        <p:nvSpPr>
          <p:cNvPr id="11" name="Shape 9"/>
          <p:cNvSpPr/>
          <p:nvPr/>
        </p:nvSpPr>
        <p:spPr>
          <a:xfrm>
            <a:off x="2651760" y="1600200"/>
            <a:ext cx="1737360" cy="310896"/>
          </a:xfrm>
          <a:prstGeom prst="roundRect">
            <a:avLst>
              <a:gd name="adj" fmla="val 23529"/>
            </a:avLst>
          </a:prstGeom>
          <a:solidFill>
            <a:srgbClr val="60A5FA">
              <a:alpha val="85000"/>
            </a:srgbClr>
          </a:solidFill>
          <a:ln w="12700">
            <a:solidFill>
              <a:srgbClr val="60A5FA"/>
            </a:solidFill>
            <a:prstDash val="solid"/>
          </a:ln>
        </p:spPr>
      </p:sp>
      <p:sp>
        <p:nvSpPr>
          <p:cNvPr id="12" name="Text 10"/>
          <p:cNvSpPr/>
          <p:nvPr/>
        </p:nvSpPr>
        <p:spPr>
          <a:xfrm>
            <a:off x="2651760" y="1581912"/>
            <a:ext cx="1737360" cy="329184"/>
          </a:xfrm>
          <a:prstGeom prst="rect">
            <a:avLst/>
          </a:prstGeom>
          <a:noFill/>
          <a:ln/>
        </p:spPr>
        <p:txBody>
          <a:bodyPr wrap="square" rtlCol="0" anchor="ctr"/>
          <a:lstStyle/>
          <a:p>
            <a:pPr algn="ctr" indent="0" marL="0">
              <a:buNone/>
            </a:pPr>
            <a:r>
              <a:rPr lang="en-US" sz="850" b="1" dirty="0">
                <a:solidFill>
                  <a:srgbClr val="60A5FA"/>
                </a:solidFill>
                <a:latin typeface="Arial" pitchFamily="34" charset="0"/>
                <a:ea typeface="Arial" pitchFamily="34" charset="-122"/>
                <a:cs typeface="Arial" pitchFamily="34" charset="-120"/>
              </a:rPr>
              <a:t>PHASE 2</a:t>
            </a:r>
            <a:endParaRPr lang="en-US" sz="850" dirty="0"/>
          </a:p>
        </p:txBody>
      </p:sp>
      <p:sp>
        <p:nvSpPr>
          <p:cNvPr id="13" name="Text 11"/>
          <p:cNvSpPr/>
          <p:nvPr/>
        </p:nvSpPr>
        <p:spPr>
          <a:xfrm>
            <a:off x="2624328" y="1984248"/>
            <a:ext cx="1792224" cy="274320"/>
          </a:xfrm>
          <a:prstGeom prst="rect">
            <a:avLst/>
          </a:prstGeom>
          <a:noFill/>
          <a:ln/>
        </p:spPr>
        <p:txBody>
          <a:bodyPr wrap="square" rtlCol="0" anchor="ctr"/>
          <a:lstStyle/>
          <a:p>
            <a:pPr algn="ctr" indent="0" marL="0">
              <a:buNone/>
            </a:pPr>
            <a:r>
              <a:rPr lang="en-US" sz="900" dirty="0">
                <a:solidFill>
                  <a:srgbClr val="8A9BBB"/>
                </a:solidFill>
                <a:latin typeface="Arial" pitchFamily="34" charset="0"/>
                <a:ea typeface="Arial" pitchFamily="34" charset="-122"/>
                <a:cs typeface="Arial" pitchFamily="34" charset="-120"/>
              </a:rPr>
              <a:t>Months 4–6</a:t>
            </a:r>
            <a:endParaRPr lang="en-US" sz="900" dirty="0"/>
          </a:p>
        </p:txBody>
      </p:sp>
      <p:sp>
        <p:nvSpPr>
          <p:cNvPr id="14" name="Text 12"/>
          <p:cNvSpPr/>
          <p:nvPr/>
        </p:nvSpPr>
        <p:spPr>
          <a:xfrm>
            <a:off x="2624328" y="2267712"/>
            <a:ext cx="1810512" cy="512064"/>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Public Launch &amp; Growth</a:t>
            </a:r>
            <a:endParaRPr lang="en-US" sz="1100" dirty="0"/>
          </a:p>
        </p:txBody>
      </p:sp>
      <p:sp>
        <p:nvSpPr>
          <p:cNvPr id="15" name="Text 13"/>
          <p:cNvSpPr/>
          <p:nvPr/>
        </p:nvSpPr>
        <p:spPr>
          <a:xfrm>
            <a:off x="2660904" y="2834640"/>
            <a:ext cx="1737360" cy="1828800"/>
          </a:xfrm>
          <a:prstGeom prst="rect">
            <a:avLst/>
          </a:prstGeom>
          <a:noFill/>
          <a:ln/>
        </p:spPr>
        <p:txBody>
          <a:bodyPr wrap="square" rtlCol="0" anchor="ctr"/>
          <a:lstStyle/>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Public launch on Android &amp; iOS</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Campus ambassador programme fires up</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Target: 5,000 active users</a:t>
            </a:r>
            <a:endParaRPr lang="en-US" sz="900" dirty="0"/>
          </a:p>
        </p:txBody>
      </p:sp>
      <p:sp>
        <p:nvSpPr>
          <p:cNvPr id="16" name="Shape 14"/>
          <p:cNvSpPr/>
          <p:nvPr/>
        </p:nvSpPr>
        <p:spPr>
          <a:xfrm>
            <a:off x="4663440" y="1463040"/>
            <a:ext cx="2011680" cy="3383280"/>
          </a:xfrm>
          <a:prstGeom prst="roundRect">
            <a:avLst>
              <a:gd name="adj" fmla="val 5455"/>
            </a:avLst>
          </a:prstGeom>
          <a:solidFill>
            <a:srgbClr val="1A2E4A"/>
          </a:solidFill>
          <a:ln w="19050">
            <a:solidFill>
              <a:srgbClr val="FBBF24"/>
            </a:solidFill>
            <a:prstDash val="solid"/>
          </a:ln>
          <a:effectLst>
            <a:outerShdw sx="100000" sy="100000" kx="0" ky="0" algn="bl" rotWithShape="0" blurRad="101600" dist="38100" dir="2700000">
              <a:srgbClr val="000000">
                <a:alpha val="18000"/>
              </a:srgbClr>
            </a:outerShdw>
          </a:effectLst>
        </p:spPr>
      </p:sp>
      <p:sp>
        <p:nvSpPr>
          <p:cNvPr id="17" name="Shape 15"/>
          <p:cNvSpPr/>
          <p:nvPr/>
        </p:nvSpPr>
        <p:spPr>
          <a:xfrm>
            <a:off x="4800600" y="1600200"/>
            <a:ext cx="1737360" cy="310896"/>
          </a:xfrm>
          <a:prstGeom prst="roundRect">
            <a:avLst>
              <a:gd name="adj" fmla="val 23529"/>
            </a:avLst>
          </a:prstGeom>
          <a:solidFill>
            <a:srgbClr val="FBBF24">
              <a:alpha val="85000"/>
            </a:srgbClr>
          </a:solidFill>
          <a:ln w="12700">
            <a:solidFill>
              <a:srgbClr val="FBBF24"/>
            </a:solidFill>
            <a:prstDash val="solid"/>
          </a:ln>
        </p:spPr>
      </p:sp>
      <p:sp>
        <p:nvSpPr>
          <p:cNvPr id="18" name="Text 16"/>
          <p:cNvSpPr/>
          <p:nvPr/>
        </p:nvSpPr>
        <p:spPr>
          <a:xfrm>
            <a:off x="4800600" y="1581912"/>
            <a:ext cx="1737360" cy="329184"/>
          </a:xfrm>
          <a:prstGeom prst="rect">
            <a:avLst/>
          </a:prstGeom>
          <a:noFill/>
          <a:ln/>
        </p:spPr>
        <p:txBody>
          <a:bodyPr wrap="square" rtlCol="0" anchor="ctr"/>
          <a:lstStyle/>
          <a:p>
            <a:pPr algn="ctr" indent="0" marL="0">
              <a:buNone/>
            </a:pPr>
            <a:r>
              <a:rPr lang="en-US" sz="850" b="1" dirty="0">
                <a:solidFill>
                  <a:srgbClr val="FBBF24"/>
                </a:solidFill>
                <a:latin typeface="Arial" pitchFamily="34" charset="0"/>
                <a:ea typeface="Arial" pitchFamily="34" charset="-122"/>
                <a:cs typeface="Arial" pitchFamily="34" charset="-120"/>
              </a:rPr>
              <a:t>PHASE 3</a:t>
            </a:r>
            <a:endParaRPr lang="en-US" sz="850" dirty="0"/>
          </a:p>
        </p:txBody>
      </p:sp>
      <p:sp>
        <p:nvSpPr>
          <p:cNvPr id="19" name="Text 17"/>
          <p:cNvSpPr/>
          <p:nvPr/>
        </p:nvSpPr>
        <p:spPr>
          <a:xfrm>
            <a:off x="4773168" y="1984248"/>
            <a:ext cx="1792224" cy="274320"/>
          </a:xfrm>
          <a:prstGeom prst="rect">
            <a:avLst/>
          </a:prstGeom>
          <a:noFill/>
          <a:ln/>
        </p:spPr>
        <p:txBody>
          <a:bodyPr wrap="square" rtlCol="0" anchor="ctr"/>
          <a:lstStyle/>
          <a:p>
            <a:pPr algn="ctr" indent="0" marL="0">
              <a:buNone/>
            </a:pPr>
            <a:r>
              <a:rPr lang="en-US" sz="900" dirty="0">
                <a:solidFill>
                  <a:srgbClr val="8A9BBB"/>
                </a:solidFill>
                <a:latin typeface="Arial" pitchFamily="34" charset="0"/>
                <a:ea typeface="Arial" pitchFamily="34" charset="-122"/>
                <a:cs typeface="Arial" pitchFamily="34" charset="-120"/>
              </a:rPr>
              <a:t>Months 7–9</a:t>
            </a:r>
            <a:endParaRPr lang="en-US" sz="900" dirty="0"/>
          </a:p>
        </p:txBody>
      </p:sp>
      <p:sp>
        <p:nvSpPr>
          <p:cNvPr id="20" name="Text 18"/>
          <p:cNvSpPr/>
          <p:nvPr/>
        </p:nvSpPr>
        <p:spPr>
          <a:xfrm>
            <a:off x="4773168" y="2267712"/>
            <a:ext cx="1810512" cy="512064"/>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Education Hub &amp; Revenue</a:t>
            </a:r>
            <a:endParaRPr lang="en-US" sz="1100" dirty="0"/>
          </a:p>
        </p:txBody>
      </p:sp>
      <p:sp>
        <p:nvSpPr>
          <p:cNvPr id="21" name="Text 19"/>
          <p:cNvSpPr/>
          <p:nvPr/>
        </p:nvSpPr>
        <p:spPr>
          <a:xfrm>
            <a:off x="4809744" y="2834640"/>
            <a:ext cx="1737360" cy="1828800"/>
          </a:xfrm>
          <a:prstGeom prst="rect">
            <a:avLst/>
          </a:prstGeom>
          <a:noFill/>
          <a:ln/>
        </p:spPr>
        <p:txBody>
          <a:bodyPr wrap="square" rtlCol="0" anchor="ctr"/>
          <a:lstStyle/>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Launch P2P tutor &amp; notes marketplace</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Begin monetization — first revenue in</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Hire part-time Tech Lead</a:t>
            </a:r>
            <a:endParaRPr lang="en-US" sz="900" dirty="0"/>
          </a:p>
        </p:txBody>
      </p:sp>
      <p:sp>
        <p:nvSpPr>
          <p:cNvPr id="22" name="Shape 20"/>
          <p:cNvSpPr/>
          <p:nvPr/>
        </p:nvSpPr>
        <p:spPr>
          <a:xfrm>
            <a:off x="6812280" y="1463040"/>
            <a:ext cx="2011680" cy="3383280"/>
          </a:xfrm>
          <a:prstGeom prst="roundRect">
            <a:avLst>
              <a:gd name="adj" fmla="val 5455"/>
            </a:avLst>
          </a:prstGeom>
          <a:solidFill>
            <a:srgbClr val="1A2E4A"/>
          </a:solidFill>
          <a:ln w="19050">
            <a:solidFill>
              <a:srgbClr val="F87171"/>
            </a:solidFill>
            <a:prstDash val="solid"/>
          </a:ln>
          <a:effectLst>
            <a:outerShdw sx="100000" sy="100000" kx="0" ky="0" algn="bl" rotWithShape="0" blurRad="101600" dist="38100" dir="2700000">
              <a:srgbClr val="000000">
                <a:alpha val="18000"/>
              </a:srgbClr>
            </a:outerShdw>
          </a:effectLst>
        </p:spPr>
      </p:sp>
      <p:sp>
        <p:nvSpPr>
          <p:cNvPr id="23" name="Shape 21"/>
          <p:cNvSpPr/>
          <p:nvPr/>
        </p:nvSpPr>
        <p:spPr>
          <a:xfrm>
            <a:off x="6949440" y="1600200"/>
            <a:ext cx="1737360" cy="310896"/>
          </a:xfrm>
          <a:prstGeom prst="roundRect">
            <a:avLst>
              <a:gd name="adj" fmla="val 23529"/>
            </a:avLst>
          </a:prstGeom>
          <a:solidFill>
            <a:srgbClr val="F87171">
              <a:alpha val="85000"/>
            </a:srgbClr>
          </a:solidFill>
          <a:ln w="12700">
            <a:solidFill>
              <a:srgbClr val="F87171"/>
            </a:solidFill>
            <a:prstDash val="solid"/>
          </a:ln>
        </p:spPr>
      </p:sp>
      <p:sp>
        <p:nvSpPr>
          <p:cNvPr id="24" name="Text 22"/>
          <p:cNvSpPr/>
          <p:nvPr/>
        </p:nvSpPr>
        <p:spPr>
          <a:xfrm>
            <a:off x="6949440" y="1581912"/>
            <a:ext cx="1737360" cy="329184"/>
          </a:xfrm>
          <a:prstGeom prst="rect">
            <a:avLst/>
          </a:prstGeom>
          <a:noFill/>
          <a:ln/>
        </p:spPr>
        <p:txBody>
          <a:bodyPr wrap="square" rtlCol="0" anchor="ctr"/>
          <a:lstStyle/>
          <a:p>
            <a:pPr algn="ctr" indent="0" marL="0">
              <a:buNone/>
            </a:pPr>
            <a:r>
              <a:rPr lang="en-US" sz="850" b="1" dirty="0">
                <a:solidFill>
                  <a:srgbClr val="F87171"/>
                </a:solidFill>
                <a:latin typeface="Arial" pitchFamily="34" charset="0"/>
                <a:ea typeface="Arial" pitchFamily="34" charset="-122"/>
                <a:cs typeface="Arial" pitchFamily="34" charset="-120"/>
              </a:rPr>
              <a:t>PHASE 4</a:t>
            </a:r>
            <a:endParaRPr lang="en-US" sz="850" dirty="0"/>
          </a:p>
        </p:txBody>
      </p:sp>
      <p:sp>
        <p:nvSpPr>
          <p:cNvPr id="25" name="Text 23"/>
          <p:cNvSpPr/>
          <p:nvPr/>
        </p:nvSpPr>
        <p:spPr>
          <a:xfrm>
            <a:off x="6922008" y="1984248"/>
            <a:ext cx="1792224" cy="274320"/>
          </a:xfrm>
          <a:prstGeom prst="rect">
            <a:avLst/>
          </a:prstGeom>
          <a:noFill/>
          <a:ln/>
        </p:spPr>
        <p:txBody>
          <a:bodyPr wrap="square" rtlCol="0" anchor="ctr"/>
          <a:lstStyle/>
          <a:p>
            <a:pPr algn="ctr" indent="0" marL="0">
              <a:buNone/>
            </a:pPr>
            <a:r>
              <a:rPr lang="en-US" sz="900" dirty="0">
                <a:solidFill>
                  <a:srgbClr val="8A9BBB"/>
                </a:solidFill>
                <a:latin typeface="Arial" pitchFamily="34" charset="0"/>
                <a:ea typeface="Arial" pitchFamily="34" charset="-122"/>
                <a:cs typeface="Arial" pitchFamily="34" charset="-120"/>
              </a:rPr>
              <a:t>Months 10–12</a:t>
            </a:r>
            <a:endParaRPr lang="en-US" sz="900" dirty="0"/>
          </a:p>
        </p:txBody>
      </p:sp>
      <p:sp>
        <p:nvSpPr>
          <p:cNvPr id="26" name="Text 24"/>
          <p:cNvSpPr/>
          <p:nvPr/>
        </p:nvSpPr>
        <p:spPr>
          <a:xfrm>
            <a:off x="6922008" y="2267712"/>
            <a:ext cx="1810512" cy="512064"/>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Scale &amp; Commerce Roadmap</a:t>
            </a:r>
            <a:endParaRPr lang="en-US" sz="1100" dirty="0"/>
          </a:p>
        </p:txBody>
      </p:sp>
      <p:sp>
        <p:nvSpPr>
          <p:cNvPr id="27" name="Text 25"/>
          <p:cNvSpPr/>
          <p:nvPr/>
        </p:nvSpPr>
        <p:spPr>
          <a:xfrm>
            <a:off x="6958584" y="2834640"/>
            <a:ext cx="1737360" cy="1828800"/>
          </a:xfrm>
          <a:prstGeom prst="rect">
            <a:avLst/>
          </a:prstGeom>
          <a:noFill/>
          <a:ln/>
        </p:spPr>
        <p:txBody>
          <a:bodyPr wrap="square" rtlCol="0" anchor="ctr"/>
          <a:lstStyle/>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Hit 10,000+ active users</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Begin Pay &amp; Logistics feature development</a:t>
            </a:r>
            <a:endParaRPr lang="en-US" sz="900" dirty="0"/>
          </a:p>
          <a:p>
            <a:pPr marL="342900" indent="-342900">
              <a:spcAft>
                <a:spcPts val="500"/>
              </a:spcAft>
              <a:buSzPct val="100000"/>
              <a:buChar char="•"/>
            </a:pPr>
            <a:r>
              <a:rPr lang="en-US" sz="900" dirty="0">
                <a:solidFill>
                  <a:srgbClr val="8A9BBB"/>
                </a:solidFill>
                <a:latin typeface="Arial" pitchFamily="34" charset="0"/>
                <a:ea typeface="Arial" pitchFamily="34" charset="-122"/>
                <a:cs typeface="Arial" pitchFamily="34" charset="-120"/>
              </a:rPr>
              <a:t>Set up Series A data room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628"/>
        </a:solidFill>
      </p:bgPr>
    </p:bg>
    <p:spTree>
      <p:nvGrpSpPr>
        <p:cNvPr id="1" name=""/>
        <p:cNvGrpSpPr/>
        <p:nvPr/>
      </p:nvGrpSpPr>
      <p:grpSpPr>
        <a:xfrm>
          <a:off x="0" y="0"/>
          <a:ext cx="0" cy="0"/>
          <a:chOff x="0" y="0"/>
          <a:chExt cx="0" cy="0"/>
        </a:xfrm>
      </p:grpSpPr>
      <p:sp>
        <p:nvSpPr>
          <p:cNvPr id="2" name="Shape 0"/>
          <p:cNvSpPr/>
          <p:nvPr/>
        </p:nvSpPr>
        <p:spPr>
          <a:xfrm>
            <a:off x="5943600" y="-457200"/>
            <a:ext cx="4572000" cy="4572000"/>
          </a:xfrm>
          <a:prstGeom prst="ellipse">
            <a:avLst/>
          </a:prstGeom>
          <a:solidFill>
            <a:srgbClr val="00D26A">
              <a:alpha val="10000"/>
            </a:srgbClr>
          </a:solidFill>
          <a:ln w="12700">
            <a:solidFill>
              <a:srgbClr val="00D26A">
                <a:alpha val="0"/>
              </a:srgbClr>
            </a:solidFill>
            <a:prstDash val="solid"/>
          </a:ln>
        </p:spPr>
      </p:sp>
      <p:sp>
        <p:nvSpPr>
          <p:cNvPr id="3" name="Shape 1"/>
          <p:cNvSpPr/>
          <p:nvPr/>
        </p:nvSpPr>
        <p:spPr>
          <a:xfrm>
            <a:off x="6858000" y="0"/>
            <a:ext cx="2743200" cy="2743200"/>
          </a:xfrm>
          <a:prstGeom prst="ellipse">
            <a:avLst/>
          </a:prstGeom>
          <a:solidFill>
            <a:srgbClr val="00D26A">
              <a:alpha val="18000"/>
            </a:srgbClr>
          </a:solidFill>
          <a:ln w="12700">
            <a:solidFill>
              <a:srgbClr val="00D26A">
                <a:alpha val="0"/>
              </a:srgbClr>
            </a:solidFill>
            <a:prstDash val="solid"/>
          </a:ln>
        </p:spPr>
      </p:sp>
      <p:sp>
        <p:nvSpPr>
          <p:cNvPr id="4" name="Text 2"/>
          <p:cNvSpPr/>
          <p:nvPr/>
        </p:nvSpPr>
        <p:spPr>
          <a:xfrm>
            <a:off x="548640" y="274320"/>
            <a:ext cx="8229600" cy="347472"/>
          </a:xfrm>
          <a:prstGeom prst="rect">
            <a:avLst/>
          </a:prstGeom>
          <a:noFill/>
          <a:ln/>
        </p:spPr>
        <p:txBody>
          <a:bodyPr wrap="square" rtlCol="0" anchor="ctr"/>
          <a:lstStyle/>
          <a:p>
            <a:pPr indent="0" marL="0">
              <a:buNone/>
            </a:pPr>
            <a:r>
              <a:rPr lang="en-US" sz="1000" b="1" spc="400" kern="0" dirty="0">
                <a:solidFill>
                  <a:srgbClr val="00D26A"/>
                </a:solidFill>
                <a:latin typeface="Arial" pitchFamily="34" charset="0"/>
                <a:ea typeface="Arial" pitchFamily="34" charset="-122"/>
                <a:cs typeface="Arial" pitchFamily="34" charset="-120"/>
              </a:rPr>
              <a:t>THE ASK</a:t>
            </a:r>
            <a:endParaRPr lang="en-US" sz="1000" dirty="0"/>
          </a:p>
        </p:txBody>
      </p:sp>
      <p:sp>
        <p:nvSpPr>
          <p:cNvPr id="5" name="Text 3"/>
          <p:cNvSpPr/>
          <p:nvPr/>
        </p:nvSpPr>
        <p:spPr>
          <a:xfrm>
            <a:off x="548640" y="658368"/>
            <a:ext cx="6400800" cy="1188720"/>
          </a:xfrm>
          <a:prstGeom prst="rect">
            <a:avLst/>
          </a:prstGeom>
          <a:noFill/>
          <a:ln/>
        </p:spPr>
        <p:txBody>
          <a:bodyPr wrap="square" rtlCol="0" anchor="ctr"/>
          <a:lstStyle/>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R1,500,000</a:t>
            </a:r>
            <a:endParaRPr lang="en-US" sz="4000" dirty="0"/>
          </a:p>
          <a:p>
            <a:pPr indent="0" marL="0">
              <a:lnSpc>
                <a:spcPct val="110000"/>
              </a:lnSpc>
              <a:buNone/>
            </a:pPr>
            <a:r>
              <a:rPr lang="en-US" sz="4000" b="1" dirty="0">
                <a:solidFill>
                  <a:srgbClr val="FFFFFF"/>
                </a:solidFill>
                <a:latin typeface="Arial" pitchFamily="34" charset="0"/>
                <a:ea typeface="Arial" pitchFamily="34" charset="-122"/>
                <a:cs typeface="Arial" pitchFamily="34" charset="-120"/>
              </a:rPr>
              <a:t>Pre-Seed Round</a:t>
            </a:r>
            <a:endParaRPr lang="en-US" sz="4000" dirty="0"/>
          </a:p>
        </p:txBody>
      </p:sp>
      <p:sp>
        <p:nvSpPr>
          <p:cNvPr id="6" name="Text 4"/>
          <p:cNvSpPr/>
          <p:nvPr/>
        </p:nvSpPr>
        <p:spPr>
          <a:xfrm>
            <a:off x="548640" y="1828800"/>
            <a:ext cx="6858000" cy="411480"/>
          </a:xfrm>
          <a:prstGeom prst="rect">
            <a:avLst/>
          </a:prstGeom>
          <a:noFill/>
          <a:ln/>
        </p:spPr>
        <p:txBody>
          <a:bodyPr wrap="square" rtlCol="0" anchor="ctr"/>
          <a:lstStyle/>
          <a:p>
            <a:pPr indent="0" marL="0">
              <a:buNone/>
            </a:pPr>
            <a:r>
              <a:rPr lang="en-US" sz="1300" i="1" dirty="0">
                <a:solidFill>
                  <a:srgbClr val="E8EDF5"/>
                </a:solidFill>
                <a:latin typeface="Arial" pitchFamily="34" charset="0"/>
                <a:ea typeface="Arial" pitchFamily="34" charset="-122"/>
                <a:cs typeface="Arial" pitchFamily="34" charset="-120"/>
              </a:rPr>
              <a:t>12–18 months of focused runway to reach monetization.</a:t>
            </a:r>
            <a:endParaRPr lang="en-US" sz="1300" dirty="0"/>
          </a:p>
        </p:txBody>
      </p:sp>
      <p:sp>
        <p:nvSpPr>
          <p:cNvPr id="7" name="Text 5"/>
          <p:cNvSpPr/>
          <p:nvPr/>
        </p:nvSpPr>
        <p:spPr>
          <a:xfrm>
            <a:off x="548640" y="2331720"/>
            <a:ext cx="8229600" cy="347472"/>
          </a:xfrm>
          <a:prstGeom prst="rect">
            <a:avLst/>
          </a:prstGeom>
          <a:noFill/>
          <a:ln/>
        </p:spPr>
        <p:txBody>
          <a:bodyPr wrap="square" rtlCol="0" anchor="ctr"/>
          <a:lstStyle/>
          <a:p>
            <a:pPr indent="0" marL="0">
              <a:buNone/>
            </a:pPr>
            <a:r>
              <a:rPr lang="en-US" sz="1100" b="1" spc="300" kern="0" dirty="0">
                <a:solidFill>
                  <a:srgbClr val="8A9BBB"/>
                </a:solidFill>
                <a:latin typeface="Arial" pitchFamily="34" charset="0"/>
                <a:ea typeface="Arial" pitchFamily="34" charset="-122"/>
                <a:cs typeface="Arial" pitchFamily="34" charset="-120"/>
              </a:rPr>
              <a:t>Use of Funds</a:t>
            </a:r>
            <a:endParaRPr lang="en-US" sz="1100" dirty="0"/>
          </a:p>
        </p:txBody>
      </p:sp>
      <p:sp>
        <p:nvSpPr>
          <p:cNvPr id="8" name="Shape 6"/>
          <p:cNvSpPr/>
          <p:nvPr/>
        </p:nvSpPr>
        <p:spPr>
          <a:xfrm>
            <a:off x="548640" y="2743200"/>
            <a:ext cx="7132320" cy="347472"/>
          </a:xfrm>
          <a:prstGeom prst="roundRect">
            <a:avLst>
              <a:gd name="adj" fmla="val 15789"/>
            </a:avLst>
          </a:prstGeom>
          <a:solidFill>
            <a:srgbClr val="1A2E4A"/>
          </a:solidFill>
          <a:ln w="12700">
            <a:solidFill>
              <a:srgbClr val="243556"/>
            </a:solidFill>
            <a:prstDash val="solid"/>
          </a:ln>
        </p:spPr>
      </p:sp>
      <p:sp>
        <p:nvSpPr>
          <p:cNvPr id="9" name="Shape 7"/>
          <p:cNvSpPr/>
          <p:nvPr/>
        </p:nvSpPr>
        <p:spPr>
          <a:xfrm>
            <a:off x="548640" y="2743200"/>
            <a:ext cx="713232" cy="347472"/>
          </a:xfrm>
          <a:prstGeom prst="roundRect">
            <a:avLst>
              <a:gd name="adj" fmla="val 15789"/>
            </a:avLst>
          </a:prstGeom>
          <a:solidFill>
            <a:srgbClr val="00D26A">
              <a:alpha val="80000"/>
            </a:srgbClr>
          </a:solidFill>
          <a:ln w="12700">
            <a:solidFill>
              <a:srgbClr val="00D26A"/>
            </a:solidFill>
            <a:prstDash val="solid"/>
          </a:ln>
        </p:spPr>
      </p:sp>
      <p:sp>
        <p:nvSpPr>
          <p:cNvPr id="10" name="Text 8"/>
          <p:cNvSpPr/>
          <p:nvPr/>
        </p:nvSpPr>
        <p:spPr>
          <a:xfrm>
            <a:off x="658368" y="2779776"/>
            <a:ext cx="45720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Cloud &amp; AI Infrastructure</a:t>
            </a:r>
            <a:endParaRPr lang="en-US" sz="1000" dirty="0"/>
          </a:p>
        </p:txBody>
      </p:sp>
      <p:sp>
        <p:nvSpPr>
          <p:cNvPr id="11" name="Text 9"/>
          <p:cNvSpPr/>
          <p:nvPr/>
        </p:nvSpPr>
        <p:spPr>
          <a:xfrm>
            <a:off x="1399032" y="2779776"/>
            <a:ext cx="6236208" cy="274320"/>
          </a:xfrm>
          <a:prstGeom prst="rect">
            <a:avLst/>
          </a:prstGeom>
          <a:noFill/>
          <a:ln/>
        </p:spPr>
        <p:txBody>
          <a:bodyPr wrap="square" rtlCol="0" anchor="ctr"/>
          <a:lstStyle/>
          <a:p>
            <a:pPr algn="r" indent="0" marL="0">
              <a:buNone/>
            </a:pPr>
            <a:r>
              <a:rPr lang="en-US" sz="950" dirty="0">
                <a:solidFill>
                  <a:srgbClr val="00D26A"/>
                </a:solidFill>
                <a:latin typeface="Arial" pitchFamily="34" charset="0"/>
                <a:ea typeface="Arial" pitchFamily="34" charset="-122"/>
                <a:cs typeface="Arial" pitchFamily="34" charset="-120"/>
              </a:rPr>
              <a:t>R150,000  (10%)</a:t>
            </a:r>
            <a:endParaRPr lang="en-US" sz="950" dirty="0"/>
          </a:p>
        </p:txBody>
      </p:sp>
      <p:sp>
        <p:nvSpPr>
          <p:cNvPr id="12" name="Shape 10"/>
          <p:cNvSpPr/>
          <p:nvPr/>
        </p:nvSpPr>
        <p:spPr>
          <a:xfrm>
            <a:off x="548640" y="3291840"/>
            <a:ext cx="7132320" cy="347472"/>
          </a:xfrm>
          <a:prstGeom prst="roundRect">
            <a:avLst>
              <a:gd name="adj" fmla="val 15789"/>
            </a:avLst>
          </a:prstGeom>
          <a:solidFill>
            <a:srgbClr val="1A2E4A"/>
          </a:solidFill>
          <a:ln w="12700">
            <a:solidFill>
              <a:srgbClr val="243556"/>
            </a:solidFill>
            <a:prstDash val="solid"/>
          </a:ln>
        </p:spPr>
      </p:sp>
      <p:sp>
        <p:nvSpPr>
          <p:cNvPr id="13" name="Shape 11"/>
          <p:cNvSpPr/>
          <p:nvPr/>
        </p:nvSpPr>
        <p:spPr>
          <a:xfrm>
            <a:off x="548640" y="3291840"/>
            <a:ext cx="1640434" cy="347472"/>
          </a:xfrm>
          <a:prstGeom prst="roundRect">
            <a:avLst>
              <a:gd name="adj" fmla="val 15789"/>
            </a:avLst>
          </a:prstGeom>
          <a:solidFill>
            <a:srgbClr val="60A5FA">
              <a:alpha val="80000"/>
            </a:srgbClr>
          </a:solidFill>
          <a:ln w="12700">
            <a:solidFill>
              <a:srgbClr val="60A5FA"/>
            </a:solidFill>
            <a:prstDash val="solid"/>
          </a:ln>
        </p:spPr>
      </p:sp>
      <p:sp>
        <p:nvSpPr>
          <p:cNvPr id="14" name="Text 12"/>
          <p:cNvSpPr/>
          <p:nvPr/>
        </p:nvSpPr>
        <p:spPr>
          <a:xfrm>
            <a:off x="658368" y="3328416"/>
            <a:ext cx="45720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Go-To-Market &amp; Marketing</a:t>
            </a:r>
            <a:endParaRPr lang="en-US" sz="1000" dirty="0"/>
          </a:p>
        </p:txBody>
      </p:sp>
      <p:sp>
        <p:nvSpPr>
          <p:cNvPr id="15" name="Text 13"/>
          <p:cNvSpPr/>
          <p:nvPr/>
        </p:nvSpPr>
        <p:spPr>
          <a:xfrm>
            <a:off x="2326234" y="3328416"/>
            <a:ext cx="5309006" cy="274320"/>
          </a:xfrm>
          <a:prstGeom prst="rect">
            <a:avLst/>
          </a:prstGeom>
          <a:noFill/>
          <a:ln/>
        </p:spPr>
        <p:txBody>
          <a:bodyPr wrap="square" rtlCol="0" anchor="ctr"/>
          <a:lstStyle/>
          <a:p>
            <a:pPr algn="r" indent="0" marL="0">
              <a:buNone/>
            </a:pPr>
            <a:r>
              <a:rPr lang="en-US" sz="950" dirty="0">
                <a:solidFill>
                  <a:srgbClr val="60A5FA"/>
                </a:solidFill>
                <a:latin typeface="Arial" pitchFamily="34" charset="0"/>
                <a:ea typeface="Arial" pitchFamily="34" charset="-122"/>
                <a:cs typeface="Arial" pitchFamily="34" charset="-120"/>
              </a:rPr>
              <a:t>R350,000  (23%)</a:t>
            </a:r>
            <a:endParaRPr lang="en-US" sz="950" dirty="0"/>
          </a:p>
        </p:txBody>
      </p:sp>
      <p:sp>
        <p:nvSpPr>
          <p:cNvPr id="16" name="Shape 14"/>
          <p:cNvSpPr/>
          <p:nvPr/>
        </p:nvSpPr>
        <p:spPr>
          <a:xfrm>
            <a:off x="548640" y="3840480"/>
            <a:ext cx="7132320" cy="347472"/>
          </a:xfrm>
          <a:prstGeom prst="roundRect">
            <a:avLst>
              <a:gd name="adj" fmla="val 15789"/>
            </a:avLst>
          </a:prstGeom>
          <a:solidFill>
            <a:srgbClr val="1A2E4A"/>
          </a:solidFill>
          <a:ln w="12700">
            <a:solidFill>
              <a:srgbClr val="243556"/>
            </a:solidFill>
            <a:prstDash val="solid"/>
          </a:ln>
        </p:spPr>
      </p:sp>
      <p:sp>
        <p:nvSpPr>
          <p:cNvPr id="17" name="Shape 15"/>
          <p:cNvSpPr/>
          <p:nvPr/>
        </p:nvSpPr>
        <p:spPr>
          <a:xfrm>
            <a:off x="548640" y="3840480"/>
            <a:ext cx="3851453" cy="347472"/>
          </a:xfrm>
          <a:prstGeom prst="roundRect">
            <a:avLst>
              <a:gd name="adj" fmla="val 15789"/>
            </a:avLst>
          </a:prstGeom>
          <a:solidFill>
            <a:srgbClr val="FBBF24">
              <a:alpha val="80000"/>
            </a:srgbClr>
          </a:solidFill>
          <a:ln w="12700">
            <a:solidFill>
              <a:srgbClr val="FBBF24"/>
            </a:solidFill>
            <a:prstDash val="solid"/>
          </a:ln>
        </p:spPr>
      </p:sp>
      <p:sp>
        <p:nvSpPr>
          <p:cNvPr id="18" name="Text 16"/>
          <p:cNvSpPr/>
          <p:nvPr/>
        </p:nvSpPr>
        <p:spPr>
          <a:xfrm>
            <a:off x="658368" y="3877056"/>
            <a:ext cx="45720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Key Hires (GTM + Tech Lead)</a:t>
            </a:r>
            <a:endParaRPr lang="en-US" sz="1000" dirty="0"/>
          </a:p>
        </p:txBody>
      </p:sp>
      <p:sp>
        <p:nvSpPr>
          <p:cNvPr id="19" name="Text 17"/>
          <p:cNvSpPr/>
          <p:nvPr/>
        </p:nvSpPr>
        <p:spPr>
          <a:xfrm>
            <a:off x="4537253" y="3877056"/>
            <a:ext cx="3097987" cy="274320"/>
          </a:xfrm>
          <a:prstGeom prst="rect">
            <a:avLst/>
          </a:prstGeom>
          <a:noFill/>
          <a:ln/>
        </p:spPr>
        <p:txBody>
          <a:bodyPr wrap="square" rtlCol="0" anchor="ctr"/>
          <a:lstStyle/>
          <a:p>
            <a:pPr algn="r" indent="0" marL="0">
              <a:buNone/>
            </a:pPr>
            <a:r>
              <a:rPr lang="en-US" sz="950" dirty="0">
                <a:solidFill>
                  <a:srgbClr val="FBBF24"/>
                </a:solidFill>
                <a:latin typeface="Arial" pitchFamily="34" charset="0"/>
                <a:ea typeface="Arial" pitchFamily="34" charset="-122"/>
                <a:cs typeface="Arial" pitchFamily="34" charset="-120"/>
              </a:rPr>
              <a:t>R800,000  (54%)</a:t>
            </a:r>
            <a:endParaRPr lang="en-US" sz="950" dirty="0"/>
          </a:p>
        </p:txBody>
      </p:sp>
      <p:sp>
        <p:nvSpPr>
          <p:cNvPr id="20" name="Shape 18"/>
          <p:cNvSpPr/>
          <p:nvPr/>
        </p:nvSpPr>
        <p:spPr>
          <a:xfrm>
            <a:off x="548640" y="4389120"/>
            <a:ext cx="7132320" cy="347472"/>
          </a:xfrm>
          <a:prstGeom prst="roundRect">
            <a:avLst>
              <a:gd name="adj" fmla="val 15789"/>
            </a:avLst>
          </a:prstGeom>
          <a:solidFill>
            <a:srgbClr val="1A2E4A"/>
          </a:solidFill>
          <a:ln w="12700">
            <a:solidFill>
              <a:srgbClr val="243556"/>
            </a:solidFill>
            <a:prstDash val="solid"/>
          </a:ln>
        </p:spPr>
      </p:sp>
      <p:sp>
        <p:nvSpPr>
          <p:cNvPr id="21" name="Shape 19"/>
          <p:cNvSpPr/>
          <p:nvPr/>
        </p:nvSpPr>
        <p:spPr>
          <a:xfrm>
            <a:off x="548640" y="4389120"/>
            <a:ext cx="927202" cy="347472"/>
          </a:xfrm>
          <a:prstGeom prst="roundRect">
            <a:avLst>
              <a:gd name="adj" fmla="val 15789"/>
            </a:avLst>
          </a:prstGeom>
          <a:solidFill>
            <a:srgbClr val="F87171">
              <a:alpha val="80000"/>
            </a:srgbClr>
          </a:solidFill>
          <a:ln w="12700">
            <a:solidFill>
              <a:srgbClr val="F87171"/>
            </a:solidFill>
            <a:prstDash val="solid"/>
          </a:ln>
        </p:spPr>
      </p:sp>
      <p:sp>
        <p:nvSpPr>
          <p:cNvPr id="22" name="Text 20"/>
          <p:cNvSpPr/>
          <p:nvPr/>
        </p:nvSpPr>
        <p:spPr>
          <a:xfrm>
            <a:off x="658368" y="4425696"/>
            <a:ext cx="457200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Legal, Admin &amp; Compliance</a:t>
            </a:r>
            <a:endParaRPr lang="en-US" sz="1000" dirty="0"/>
          </a:p>
        </p:txBody>
      </p:sp>
      <p:sp>
        <p:nvSpPr>
          <p:cNvPr id="23" name="Text 21"/>
          <p:cNvSpPr/>
          <p:nvPr/>
        </p:nvSpPr>
        <p:spPr>
          <a:xfrm>
            <a:off x="1613002" y="4425696"/>
            <a:ext cx="6022238" cy="274320"/>
          </a:xfrm>
          <a:prstGeom prst="rect">
            <a:avLst/>
          </a:prstGeom>
          <a:noFill/>
          <a:ln/>
        </p:spPr>
        <p:txBody>
          <a:bodyPr wrap="square" rtlCol="0" anchor="ctr"/>
          <a:lstStyle/>
          <a:p>
            <a:pPr algn="r" indent="0" marL="0">
              <a:buNone/>
            </a:pPr>
            <a:r>
              <a:rPr lang="en-US" sz="950" dirty="0">
                <a:solidFill>
                  <a:srgbClr val="F87171"/>
                </a:solidFill>
                <a:latin typeface="Arial" pitchFamily="34" charset="0"/>
                <a:ea typeface="Arial" pitchFamily="34" charset="-122"/>
                <a:cs typeface="Arial" pitchFamily="34" charset="-120"/>
              </a:rPr>
              <a:t>R200,000  (13%)</a:t>
            </a:r>
            <a:endParaRPr lang="en-US" sz="950" dirty="0"/>
          </a:p>
        </p:txBody>
      </p:sp>
      <p:sp>
        <p:nvSpPr>
          <p:cNvPr id="24" name="Shape 22"/>
          <p:cNvSpPr/>
          <p:nvPr/>
        </p:nvSpPr>
        <p:spPr>
          <a:xfrm>
            <a:off x="548640" y="4709160"/>
            <a:ext cx="8046720" cy="301752"/>
          </a:xfrm>
          <a:prstGeom prst="roundRect">
            <a:avLst>
              <a:gd name="adj" fmla="val 24242"/>
            </a:avLst>
          </a:prstGeom>
          <a:solidFill>
            <a:srgbClr val="00D26A"/>
          </a:solidFill>
          <a:ln w="12700">
            <a:solidFill>
              <a:srgbClr val="00D26A"/>
            </a:solidFill>
            <a:prstDash val="solid"/>
          </a:ln>
        </p:spPr>
      </p:sp>
      <p:sp>
        <p:nvSpPr>
          <p:cNvPr id="25" name="Text 23"/>
          <p:cNvSpPr/>
          <p:nvPr/>
        </p:nvSpPr>
        <p:spPr>
          <a:xfrm>
            <a:off x="548640" y="4700016"/>
            <a:ext cx="8046720" cy="320040"/>
          </a:xfrm>
          <a:prstGeom prst="rect">
            <a:avLst/>
          </a:prstGeom>
          <a:noFill/>
          <a:ln/>
        </p:spPr>
        <p:txBody>
          <a:bodyPr wrap="square" rtlCol="0" anchor="ctr"/>
          <a:lstStyle/>
          <a:p>
            <a:pPr algn="ctr" indent="0" marL="0">
              <a:buNone/>
            </a:pPr>
            <a:r>
              <a:rPr lang="en-US" sz="1050" b="1" dirty="0">
                <a:solidFill>
                  <a:srgbClr val="0B1628"/>
                </a:solidFill>
                <a:latin typeface="Arial" pitchFamily="34" charset="0"/>
                <a:ea typeface="Arial" pitchFamily="34" charset="-122"/>
                <a:cs typeface="Arial" pitchFamily="34" charset="-120"/>
              </a:rPr>
              <a:t>Join us in building South Africa's super-app — connex@example.com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Connex — Investor Pitch Deck</dc:title>
  <dc:subject>PptxGenJS Presentation</dc:subject>
  <dc:creator>Connex</dc:creator>
  <cp:lastModifiedBy>Connex</cp:lastModifiedBy>
  <cp:revision>1</cp:revision>
  <dcterms:created xsi:type="dcterms:W3CDTF">2026-06-27T19:08:01Z</dcterms:created>
  <dcterms:modified xsi:type="dcterms:W3CDTF">2026-06-27T19:08:01Z</dcterms:modified>
</cp:coreProperties>
</file>